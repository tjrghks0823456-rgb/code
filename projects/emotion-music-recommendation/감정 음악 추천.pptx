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62" r:id="rId4"/>
    <p:sldId id="259" r:id="rId5"/>
    <p:sldId id="258" r:id="rId6"/>
    <p:sldId id="260" r:id="rId7"/>
    <p:sldId id="264" r:id="rId8"/>
    <p:sldId id="265" r:id="rId9"/>
    <p:sldId id="263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 bwMode="gray">
          <a:xfrm>
            <a:off x="0" y="1929384"/>
            <a:ext cx="12192000" cy="49286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8" name="Picture 46" descr="2.png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65" b="15496"/>
          <a:stretch>
            <a:fillRect/>
          </a:stretch>
        </p:blipFill>
        <p:spPr bwMode="gray">
          <a:xfrm>
            <a:off x="6762756" y="3571876"/>
            <a:ext cx="4956121" cy="32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1011936" y="786384"/>
            <a:ext cx="8534400" cy="841248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0"/>
          <p:cNvGrpSpPr/>
          <p:nvPr/>
        </p:nvGrpSpPr>
        <p:grpSpPr bwMode="gray">
          <a:xfrm>
            <a:off x="9790176" y="740664"/>
            <a:ext cx="984069" cy="1640146"/>
            <a:chOff x="6869341" y="609600"/>
            <a:chExt cx="738052" cy="1640146"/>
          </a:xfrm>
        </p:grpSpPr>
        <p:sp>
          <p:nvSpPr>
            <p:cNvPr id="20" name="Rectangle 19"/>
            <p:cNvSpPr/>
            <p:nvPr userDrawn="1"/>
          </p:nvSpPr>
          <p:spPr bwMode="gray">
            <a:xfrm rot="360000">
              <a:off x="7397081" y="748488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8" name="Group 18"/>
            <p:cNvGrpSpPr/>
            <p:nvPr userDrawn="1"/>
          </p:nvGrpSpPr>
          <p:grpSpPr bwMode="gray">
            <a:xfrm>
              <a:off x="6869341" y="609600"/>
              <a:ext cx="586829" cy="1640146"/>
              <a:chOff x="6850291" y="609600"/>
              <a:chExt cx="586829" cy="1640146"/>
            </a:xfrm>
          </p:grpSpPr>
          <p:sp>
            <p:nvSpPr>
              <p:cNvPr id="17" name="Rectangle 16"/>
              <p:cNvSpPr/>
              <p:nvPr userDrawn="1"/>
            </p:nvSpPr>
            <p:spPr bwMode="gray">
              <a:xfrm rot="360000">
                <a:off x="6934200" y="609600"/>
                <a:ext cx="502920" cy="576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ectangle 17"/>
              <p:cNvSpPr/>
              <p:nvPr userDrawn="1"/>
            </p:nvSpPr>
            <p:spPr bwMode="gray">
              <a:xfrm rot="360000">
                <a:off x="6850291" y="1179898"/>
                <a:ext cx="502920" cy="10698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9" name="Group 26"/>
          <p:cNvGrpSpPr/>
          <p:nvPr/>
        </p:nvGrpSpPr>
        <p:grpSpPr bwMode="gray">
          <a:xfrm>
            <a:off x="10594849" y="1106424"/>
            <a:ext cx="1005068" cy="1637570"/>
            <a:chOff x="7946136" y="1106424"/>
            <a:chExt cx="753801" cy="1637570"/>
          </a:xfrm>
        </p:grpSpPr>
        <p:sp>
          <p:nvSpPr>
            <p:cNvPr id="23" name="Rectangle 22"/>
            <p:cNvSpPr/>
            <p:nvPr userDrawn="1"/>
          </p:nvSpPr>
          <p:spPr bwMode="gray">
            <a:xfrm rot="600000">
              <a:off x="8489625" y="1245312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 userDrawn="1"/>
          </p:nvSpPr>
          <p:spPr bwMode="gray">
            <a:xfrm rot="600000">
              <a:off x="8083296" y="1106424"/>
              <a:ext cx="502920" cy="5760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 bwMode="gray">
            <a:xfrm rot="600000">
              <a:off x="7946136" y="1674146"/>
              <a:ext cx="502920" cy="10698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0" name="Group 41"/>
          <p:cNvGrpSpPr/>
          <p:nvPr/>
        </p:nvGrpSpPr>
        <p:grpSpPr bwMode="gray">
          <a:xfrm>
            <a:off x="0" y="1810512"/>
            <a:ext cx="12192000" cy="120460"/>
            <a:chOff x="0" y="1810512"/>
            <a:chExt cx="9144000" cy="120460"/>
          </a:xfrm>
        </p:grpSpPr>
        <p:cxnSp>
          <p:nvCxnSpPr>
            <p:cNvPr id="32" name="Straight Connector 31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77"/>
          <p:cNvGrpSpPr>
            <a:grpSpLocks/>
          </p:cNvGrpSpPr>
          <p:nvPr/>
        </p:nvGrpSpPr>
        <p:grpSpPr bwMode="gray">
          <a:xfrm rot="5400000">
            <a:off x="778718" y="2100960"/>
            <a:ext cx="1500199" cy="1889313"/>
            <a:chOff x="42" y="4085"/>
            <a:chExt cx="224" cy="224"/>
          </a:xfrm>
          <a:solidFill>
            <a:srgbClr val="F8F7F3">
              <a:alpha val="30196"/>
            </a:srgbClr>
          </a:solidFill>
        </p:grpSpPr>
        <p:sp>
          <p:nvSpPr>
            <p:cNvPr id="40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73552"/>
            <a:ext cx="103632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3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 bwMode="gray">
          <a:xfrm>
            <a:off x="0" y="1316736"/>
            <a:ext cx="11436096" cy="1588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dist="254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77"/>
          <p:cNvGrpSpPr>
            <a:grpSpLocks/>
          </p:cNvGrpSpPr>
          <p:nvPr/>
        </p:nvGrpSpPr>
        <p:grpSpPr bwMode="gray">
          <a:xfrm rot="5400000">
            <a:off x="568452" y="67056"/>
            <a:ext cx="996696" cy="1292352"/>
            <a:chOff x="42" y="4085"/>
            <a:chExt cx="224" cy="224"/>
          </a:xfrm>
          <a:solidFill>
            <a:schemeClr val="bg2">
              <a:lumMod val="75000"/>
              <a:alpha val="30196"/>
            </a:schemeClr>
          </a:solidFill>
        </p:grpSpPr>
        <p:sp>
          <p:nvSpPr>
            <p:cNvPr id="10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1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12" name="Rectangle 11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8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5" name="Freeform 14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1"/>
            <a:ext cx="10813143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2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gray">
          <a:xfrm>
            <a:off x="0" y="4718304"/>
            <a:ext cx="12192000" cy="17282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99232"/>
            <a:ext cx="8388096" cy="14996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9448800" y="3465576"/>
            <a:ext cx="984069" cy="1640146"/>
            <a:chOff x="6869341" y="609600"/>
            <a:chExt cx="738052" cy="1640146"/>
          </a:xfrm>
        </p:grpSpPr>
        <p:sp>
          <p:nvSpPr>
            <p:cNvPr id="8" name="Rectangle 7"/>
            <p:cNvSpPr/>
            <p:nvPr userDrawn="1"/>
          </p:nvSpPr>
          <p:spPr bwMode="gray">
            <a:xfrm rot="360000">
              <a:off x="7397081" y="748488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9" name="Group 18"/>
            <p:cNvGrpSpPr/>
            <p:nvPr userDrawn="1"/>
          </p:nvGrpSpPr>
          <p:grpSpPr bwMode="gray">
            <a:xfrm>
              <a:off x="6869341" y="609600"/>
              <a:ext cx="586829" cy="1640146"/>
              <a:chOff x="6850291" y="609600"/>
              <a:chExt cx="586829" cy="1640146"/>
            </a:xfrm>
          </p:grpSpPr>
          <p:sp>
            <p:nvSpPr>
              <p:cNvPr id="10" name="Rectangle 9"/>
              <p:cNvSpPr/>
              <p:nvPr userDrawn="1"/>
            </p:nvSpPr>
            <p:spPr bwMode="gray">
              <a:xfrm rot="360000">
                <a:off x="6934200" y="609600"/>
                <a:ext cx="502920" cy="576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1" name="Rectangle 10"/>
              <p:cNvSpPr/>
              <p:nvPr userDrawn="1"/>
            </p:nvSpPr>
            <p:spPr bwMode="gray">
              <a:xfrm rot="360000">
                <a:off x="6850291" y="1179898"/>
                <a:ext cx="502920" cy="10698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2" name="Group 11"/>
          <p:cNvGrpSpPr/>
          <p:nvPr/>
        </p:nvGrpSpPr>
        <p:grpSpPr bwMode="gray">
          <a:xfrm>
            <a:off x="10277857" y="3831336"/>
            <a:ext cx="1005068" cy="1637570"/>
            <a:chOff x="7946136" y="1106424"/>
            <a:chExt cx="753801" cy="1637570"/>
          </a:xfrm>
        </p:grpSpPr>
        <p:sp>
          <p:nvSpPr>
            <p:cNvPr id="13" name="Rectangle 12"/>
            <p:cNvSpPr/>
            <p:nvPr userDrawn="1"/>
          </p:nvSpPr>
          <p:spPr bwMode="gray">
            <a:xfrm rot="600000">
              <a:off x="8489625" y="1245312"/>
              <a:ext cx="210312" cy="1444752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5000">
                  <a:schemeClr val="bg1">
                    <a:lumMod val="50000"/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 bwMode="gray">
            <a:xfrm rot="600000">
              <a:off x="8083296" y="1106424"/>
              <a:ext cx="502920" cy="5760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 userDrawn="1"/>
          </p:nvSpPr>
          <p:spPr bwMode="gray">
            <a:xfrm rot="600000">
              <a:off x="7946136" y="1674146"/>
              <a:ext cx="502920" cy="10698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0" name="Group 19"/>
          <p:cNvGrpSpPr/>
          <p:nvPr/>
        </p:nvGrpSpPr>
        <p:grpSpPr bwMode="gray">
          <a:xfrm>
            <a:off x="0" y="4575048"/>
            <a:ext cx="12192000" cy="120460"/>
            <a:chOff x="0" y="1810512"/>
            <a:chExt cx="9144000" cy="120460"/>
          </a:xfrm>
        </p:grpSpPr>
        <p:cxnSp>
          <p:nvCxnSpPr>
            <p:cNvPr id="16" name="Straight Connector 15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77"/>
          <p:cNvGrpSpPr>
            <a:grpSpLocks/>
          </p:cNvGrpSpPr>
          <p:nvPr/>
        </p:nvGrpSpPr>
        <p:grpSpPr bwMode="gray">
          <a:xfrm rot="5400000">
            <a:off x="605028" y="4872228"/>
            <a:ext cx="1069848" cy="1328928"/>
            <a:chOff x="42" y="4085"/>
            <a:chExt cx="224" cy="224"/>
          </a:xfrm>
          <a:solidFill>
            <a:schemeClr val="bg2">
              <a:alpha val="70000"/>
            </a:schemeClr>
          </a:solidFill>
        </p:grpSpPr>
        <p:sp>
          <p:nvSpPr>
            <p:cNvPr id="22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4855465"/>
            <a:ext cx="9314688" cy="1362075"/>
          </a:xfrm>
        </p:spPr>
        <p:txBody>
          <a:bodyPr anchor="ctr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3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8464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oup 9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1" name="Freeform 10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14" name="Straight Connector 13"/>
          <p:cNvCxnSpPr/>
          <p:nvPr/>
        </p:nvCxnSpPr>
        <p:spPr bwMode="gray">
          <a:xfrm>
            <a:off x="0" y="1316736"/>
            <a:ext cx="11436096" cy="1588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dist="254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5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0" y="0"/>
            <a:ext cx="12192000" cy="1143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024" y="1535113"/>
            <a:ext cx="5242560" cy="639762"/>
          </a:xfrm>
          <a:solidFill>
            <a:srgbClr val="77933C">
              <a:alpha val="20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6416" y="1535113"/>
            <a:ext cx="5242560" cy="639762"/>
          </a:xfrm>
          <a:solidFill>
            <a:srgbClr val="E46C0A">
              <a:alpha val="20000"/>
            </a:srgb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2" name="Group 10"/>
          <p:cNvGrpSpPr/>
          <p:nvPr/>
        </p:nvGrpSpPr>
        <p:grpSpPr bwMode="gray">
          <a:xfrm>
            <a:off x="0" y="1143000"/>
            <a:ext cx="12192000" cy="120460"/>
            <a:chOff x="0" y="1810512"/>
            <a:chExt cx="9144000" cy="120460"/>
          </a:xfrm>
        </p:grpSpPr>
        <p:cxnSp>
          <p:nvCxnSpPr>
            <p:cNvPr id="12" name="Straight Connector 11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77"/>
          <p:cNvGrpSpPr>
            <a:grpSpLocks/>
          </p:cNvGrpSpPr>
          <p:nvPr/>
        </p:nvGrpSpPr>
        <p:grpSpPr bwMode="gray">
          <a:xfrm rot="5400000">
            <a:off x="484632" y="39624"/>
            <a:ext cx="932688" cy="1146048"/>
            <a:chOff x="42" y="4085"/>
            <a:chExt cx="224" cy="224"/>
          </a:xfrm>
          <a:solidFill>
            <a:schemeClr val="bg2">
              <a:alpha val="70000"/>
            </a:schemeClr>
          </a:solidFill>
        </p:grpSpPr>
        <p:sp>
          <p:nvSpPr>
            <p:cNvPr id="16" name="Freeform 278"/>
            <p:cNvSpPr>
              <a:spLocks/>
            </p:cNvSpPr>
            <p:nvPr userDrawn="1"/>
          </p:nvSpPr>
          <p:spPr bwMode="gray">
            <a:xfrm>
              <a:off x="89" y="4127"/>
              <a:ext cx="136" cy="142"/>
            </a:xfrm>
            <a:custGeom>
              <a:avLst/>
              <a:gdLst/>
              <a:ahLst/>
              <a:cxnLst>
                <a:cxn ang="0">
                  <a:pos x="226" y="24"/>
                </a:cxn>
                <a:cxn ang="0">
                  <a:pos x="7" y="311"/>
                </a:cxn>
                <a:cxn ang="0">
                  <a:pos x="30" y="389"/>
                </a:cxn>
                <a:cxn ang="0">
                  <a:pos x="124" y="402"/>
                </a:cxn>
                <a:cxn ang="0">
                  <a:pos x="193" y="317"/>
                </a:cxn>
                <a:cxn ang="0">
                  <a:pos x="193" y="524"/>
                </a:cxn>
                <a:cxn ang="0">
                  <a:pos x="276" y="585"/>
                </a:cxn>
                <a:cxn ang="0">
                  <a:pos x="363" y="522"/>
                </a:cxn>
                <a:cxn ang="0">
                  <a:pos x="363" y="305"/>
                </a:cxn>
                <a:cxn ang="0">
                  <a:pos x="447" y="405"/>
                </a:cxn>
                <a:cxn ang="0">
                  <a:pos x="534" y="398"/>
                </a:cxn>
                <a:cxn ang="0">
                  <a:pos x="562" y="320"/>
                </a:cxn>
                <a:cxn ang="0">
                  <a:pos x="331" y="17"/>
                </a:cxn>
                <a:cxn ang="0">
                  <a:pos x="280" y="2"/>
                </a:cxn>
                <a:cxn ang="0">
                  <a:pos x="226" y="24"/>
                </a:cxn>
              </a:cxnLst>
              <a:rect l="0" t="0" r="r" b="b"/>
              <a:pathLst>
                <a:path w="562" h="587">
                  <a:moveTo>
                    <a:pt x="226" y="24"/>
                  </a:moveTo>
                  <a:cubicBezTo>
                    <a:pt x="181" y="76"/>
                    <a:pt x="40" y="250"/>
                    <a:pt x="7" y="311"/>
                  </a:cubicBezTo>
                  <a:cubicBezTo>
                    <a:pt x="0" y="350"/>
                    <a:pt x="11" y="361"/>
                    <a:pt x="30" y="389"/>
                  </a:cubicBezTo>
                  <a:cubicBezTo>
                    <a:pt x="49" y="417"/>
                    <a:pt x="87" y="422"/>
                    <a:pt x="124" y="402"/>
                  </a:cubicBezTo>
                  <a:lnTo>
                    <a:pt x="193" y="317"/>
                  </a:lnTo>
                  <a:lnTo>
                    <a:pt x="193" y="524"/>
                  </a:lnTo>
                  <a:cubicBezTo>
                    <a:pt x="207" y="569"/>
                    <a:pt x="248" y="585"/>
                    <a:pt x="276" y="585"/>
                  </a:cubicBezTo>
                  <a:cubicBezTo>
                    <a:pt x="315" y="587"/>
                    <a:pt x="350" y="568"/>
                    <a:pt x="363" y="522"/>
                  </a:cubicBezTo>
                  <a:lnTo>
                    <a:pt x="363" y="305"/>
                  </a:lnTo>
                  <a:lnTo>
                    <a:pt x="447" y="405"/>
                  </a:lnTo>
                  <a:cubicBezTo>
                    <a:pt x="475" y="420"/>
                    <a:pt x="515" y="412"/>
                    <a:pt x="534" y="398"/>
                  </a:cubicBezTo>
                  <a:cubicBezTo>
                    <a:pt x="553" y="384"/>
                    <a:pt x="562" y="357"/>
                    <a:pt x="562" y="320"/>
                  </a:cubicBezTo>
                  <a:cubicBezTo>
                    <a:pt x="446" y="168"/>
                    <a:pt x="331" y="17"/>
                    <a:pt x="331" y="17"/>
                  </a:cubicBezTo>
                  <a:cubicBezTo>
                    <a:pt x="303" y="0"/>
                    <a:pt x="296" y="2"/>
                    <a:pt x="280" y="2"/>
                  </a:cubicBezTo>
                  <a:cubicBezTo>
                    <a:pt x="264" y="2"/>
                    <a:pt x="247" y="6"/>
                    <a:pt x="226" y="24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AutoShape 279"/>
            <p:cNvSpPr>
              <a:spLocks noChangeArrowheads="1"/>
            </p:cNvSpPr>
            <p:nvPr userDrawn="1"/>
          </p:nvSpPr>
          <p:spPr bwMode="gray">
            <a:xfrm>
              <a:off x="42" y="4085"/>
              <a:ext cx="224" cy="224"/>
            </a:xfrm>
            <a:custGeom>
              <a:avLst/>
              <a:gdLst>
                <a:gd name="G0" fmla="+- 2121 0 0"/>
                <a:gd name="G1" fmla="+- 21600 0 2121"/>
                <a:gd name="G2" fmla="+- 21600 0 2121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121" y="10800"/>
                  </a:moveTo>
                  <a:cubicBezTo>
                    <a:pt x="2121" y="15593"/>
                    <a:pt x="6007" y="19479"/>
                    <a:pt x="10800" y="19479"/>
                  </a:cubicBezTo>
                  <a:cubicBezTo>
                    <a:pt x="15593" y="19479"/>
                    <a:pt x="19479" y="15593"/>
                    <a:pt x="19479" y="10800"/>
                  </a:cubicBezTo>
                  <a:cubicBezTo>
                    <a:pt x="19479" y="6007"/>
                    <a:pt x="15593" y="2121"/>
                    <a:pt x="10800" y="2121"/>
                  </a:cubicBezTo>
                  <a:cubicBezTo>
                    <a:pt x="6007" y="2121"/>
                    <a:pt x="2121" y="6007"/>
                    <a:pt x="2121" y="10800"/>
                  </a:cubicBezTo>
                  <a:close/>
                </a:path>
              </a:pathLst>
            </a:custGeom>
            <a:grp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426464" y="146304"/>
            <a:ext cx="9241536" cy="99669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1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67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4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356616"/>
            <a:ext cx="10863072" cy="7132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5424" y="1216152"/>
            <a:ext cx="6705600" cy="50749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53" y="1216152"/>
            <a:ext cx="4011084" cy="50749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Rectangle 7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1" name="Freeform 10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8682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43456" y="1143000"/>
            <a:ext cx="8217408" cy="5029200"/>
          </a:xfrm>
          <a:solidFill>
            <a:srgbClr val="FFFFFF"/>
          </a:solidFill>
          <a:ln w="92075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anchor="b">
            <a:normAutofit/>
          </a:bodyPr>
          <a:lstStyle>
            <a:lvl1pPr marL="0" indent="0">
              <a:buFont typeface="Arial" pitchFamily="34" charset="0"/>
              <a:buChar char="•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 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21536" y="384048"/>
            <a:ext cx="8400288" cy="566738"/>
          </a:xfrm>
        </p:spPr>
        <p:txBody>
          <a:bodyPr anchor="b"/>
          <a:lstStyle>
            <a:lvl1pPr algn="l">
              <a:defRPr sz="2000" b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755648" y="1143000"/>
            <a:ext cx="8144256" cy="3867912"/>
          </a:xfrm>
          <a:solidFill>
            <a:srgbClr val="F8F8F8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0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2" name="Freeform 11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9675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13898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oup 7"/>
          <p:cNvGrpSpPr/>
          <p:nvPr/>
        </p:nvGrpSpPr>
        <p:grpSpPr bwMode="gray">
          <a:xfrm>
            <a:off x="0" y="1380744"/>
            <a:ext cx="12192000" cy="120460"/>
            <a:chOff x="0" y="1810512"/>
            <a:chExt cx="9144000" cy="120460"/>
          </a:xfrm>
        </p:grpSpPr>
        <p:cxnSp>
          <p:nvCxnSpPr>
            <p:cNvPr id="9" name="Straight Connector 8"/>
            <p:cNvCxnSpPr/>
            <p:nvPr userDrawn="1"/>
          </p:nvCxnSpPr>
          <p:spPr bwMode="gray">
            <a:xfrm>
              <a:off x="0" y="1810512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 bwMode="gray">
            <a:xfrm>
              <a:off x="0" y="1865376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 bwMode="gray">
            <a:xfrm>
              <a:off x="0" y="1929384"/>
              <a:ext cx="9144000" cy="1588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  <a:effectLst>
              <a:outerShdw dist="25400" dir="5400000" algn="ctr" rotWithShape="0">
                <a:srgbClr val="00000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Vertical Text Placeholder 14"/>
          <p:cNvSpPr>
            <a:spLocks noGrp="1"/>
          </p:cNvSpPr>
          <p:nvPr>
            <p:ph type="body" orient="vert" sz="quarter" idx="13"/>
          </p:nvPr>
        </p:nvSpPr>
        <p:spPr>
          <a:xfrm>
            <a:off x="609600" y="1719072"/>
            <a:ext cx="10972800" cy="452628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0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세로 제목 및 텍스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472672" y="0"/>
            <a:ext cx="7193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1460480" y="0"/>
            <a:ext cx="52425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" name="Group 8"/>
          <p:cNvGrpSpPr/>
          <p:nvPr/>
        </p:nvGrpSpPr>
        <p:grpSpPr bwMode="gray">
          <a:xfrm>
            <a:off x="10692384" y="246889"/>
            <a:ext cx="1426464" cy="490035"/>
            <a:chOff x="8019288" y="246888"/>
            <a:chExt cx="1069848" cy="490035"/>
          </a:xfrm>
        </p:grpSpPr>
        <p:sp>
          <p:nvSpPr>
            <p:cNvPr id="10" name="Freeform 9"/>
            <p:cNvSpPr/>
            <p:nvPr userDrawn="1"/>
          </p:nvSpPr>
          <p:spPr bwMode="gray">
            <a:xfrm rot="4680000">
              <a:off x="8513063" y="174567"/>
              <a:ext cx="137160" cy="987552"/>
            </a:xfrm>
            <a:custGeom>
              <a:avLst/>
              <a:gdLst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210312 w 210312"/>
                <a:gd name="connsiteY2" fmla="*/ 4233101 h 4233101"/>
                <a:gd name="connsiteX3" fmla="*/ 0 w 210312"/>
                <a:gd name="connsiteY3" fmla="*/ 4233101 h 4233101"/>
                <a:gd name="connsiteX4" fmla="*/ 0 w 210312"/>
                <a:gd name="connsiteY4" fmla="*/ 0 h 4233101"/>
                <a:gd name="connsiteX0" fmla="*/ 0 w 210312"/>
                <a:gd name="connsiteY0" fmla="*/ 0 h 4233101"/>
                <a:gd name="connsiteX1" fmla="*/ 210312 w 210312"/>
                <a:gd name="connsiteY1" fmla="*/ 0 h 4233101"/>
                <a:gd name="connsiteX2" fmla="*/ 0 w 210312"/>
                <a:gd name="connsiteY2" fmla="*/ 4233101 h 4233101"/>
                <a:gd name="connsiteX3" fmla="*/ 0 w 210312"/>
                <a:gd name="connsiteY3" fmla="*/ 0 h 4233101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0 w 91050"/>
                <a:gd name="connsiteY0" fmla="*/ 27578 h 4260679"/>
                <a:gd name="connsiteX1" fmla="*/ 91050 w 91050"/>
                <a:gd name="connsiteY1" fmla="*/ 0 h 4260679"/>
                <a:gd name="connsiteX2" fmla="*/ 0 w 91050"/>
                <a:gd name="connsiteY2" fmla="*/ 4260679 h 4260679"/>
                <a:gd name="connsiteX3" fmla="*/ 0 w 91050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6703 w 97753"/>
                <a:gd name="connsiteY0" fmla="*/ 27578 h 4260679"/>
                <a:gd name="connsiteX1" fmla="*/ 97753 w 97753"/>
                <a:gd name="connsiteY1" fmla="*/ 0 h 4260679"/>
                <a:gd name="connsiteX2" fmla="*/ 6703 w 97753"/>
                <a:gd name="connsiteY2" fmla="*/ 4260679 h 4260679"/>
                <a:gd name="connsiteX3" fmla="*/ 6703 w 97753"/>
                <a:gd name="connsiteY3" fmla="*/ 27578 h 4260679"/>
                <a:gd name="connsiteX0" fmla="*/ 25745 w 97753"/>
                <a:gd name="connsiteY0" fmla="*/ 1 h 4233102"/>
                <a:gd name="connsiteX1" fmla="*/ 97753 w 97753"/>
                <a:gd name="connsiteY1" fmla="*/ 61420 h 4233102"/>
                <a:gd name="connsiteX2" fmla="*/ 25745 w 97753"/>
                <a:gd name="connsiteY2" fmla="*/ 4233102 h 4233102"/>
                <a:gd name="connsiteX3" fmla="*/ 25745 w 97753"/>
                <a:gd name="connsiteY3" fmla="*/ 1 h 42331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24478 w 97753"/>
                <a:gd name="connsiteY0" fmla="*/ 8201 h 4241302"/>
                <a:gd name="connsiteX1" fmla="*/ 97753 w 97753"/>
                <a:gd name="connsiteY1" fmla="*/ 0 h 4241302"/>
                <a:gd name="connsiteX2" fmla="*/ 24478 w 97753"/>
                <a:gd name="connsiteY2" fmla="*/ 4241302 h 4241302"/>
                <a:gd name="connsiteX3" fmla="*/ 24478 w 97753"/>
                <a:gd name="connsiteY3" fmla="*/ 8201 h 4241302"/>
                <a:gd name="connsiteX0" fmla="*/ 14176 w 87451"/>
                <a:gd name="connsiteY0" fmla="*/ 8201 h 4241302"/>
                <a:gd name="connsiteX1" fmla="*/ 87451 w 87451"/>
                <a:gd name="connsiteY1" fmla="*/ 0 h 4241302"/>
                <a:gd name="connsiteX2" fmla="*/ 14176 w 87451"/>
                <a:gd name="connsiteY2" fmla="*/ 4241302 h 4241302"/>
                <a:gd name="connsiteX3" fmla="*/ 14176 w 87451"/>
                <a:gd name="connsiteY3" fmla="*/ 8201 h 4241302"/>
                <a:gd name="connsiteX0" fmla="*/ 14176 w 87451"/>
                <a:gd name="connsiteY0" fmla="*/ 8201 h 4001504"/>
                <a:gd name="connsiteX1" fmla="*/ 87451 w 87451"/>
                <a:gd name="connsiteY1" fmla="*/ 0 h 4001504"/>
                <a:gd name="connsiteX2" fmla="*/ 18941 w 87451"/>
                <a:gd name="connsiteY2" fmla="*/ 4001504 h 4001504"/>
                <a:gd name="connsiteX3" fmla="*/ 14176 w 87451"/>
                <a:gd name="connsiteY3" fmla="*/ 8201 h 4001504"/>
                <a:gd name="connsiteX0" fmla="*/ 14176 w 87451"/>
                <a:gd name="connsiteY0" fmla="*/ 8201 h 3875955"/>
                <a:gd name="connsiteX1" fmla="*/ 87451 w 87451"/>
                <a:gd name="connsiteY1" fmla="*/ 0 h 3875955"/>
                <a:gd name="connsiteX2" fmla="*/ 7278 w 87451"/>
                <a:gd name="connsiteY2" fmla="*/ 3875955 h 3875955"/>
                <a:gd name="connsiteX3" fmla="*/ 14176 w 87451"/>
                <a:gd name="connsiteY3" fmla="*/ 8201 h 3875955"/>
                <a:gd name="connsiteX0" fmla="*/ 14176 w 87451"/>
                <a:gd name="connsiteY0" fmla="*/ 8201 h 3961135"/>
                <a:gd name="connsiteX1" fmla="*/ 87451 w 87451"/>
                <a:gd name="connsiteY1" fmla="*/ 0 h 3961135"/>
                <a:gd name="connsiteX2" fmla="*/ 16239 w 87451"/>
                <a:gd name="connsiteY2" fmla="*/ 3961135 h 3961135"/>
                <a:gd name="connsiteX3" fmla="*/ 14176 w 87451"/>
                <a:gd name="connsiteY3" fmla="*/ 8201 h 396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51" h="3961135">
                  <a:moveTo>
                    <a:pt x="14176" y="8201"/>
                  </a:moveTo>
                  <a:lnTo>
                    <a:pt x="87451" y="0"/>
                  </a:lnTo>
                  <a:cubicBezTo>
                    <a:pt x="0" y="2301293"/>
                    <a:pt x="31791" y="2848354"/>
                    <a:pt x="16239" y="3961135"/>
                  </a:cubicBezTo>
                  <a:cubicBezTo>
                    <a:pt x="14651" y="2630034"/>
                    <a:pt x="15764" y="1339302"/>
                    <a:pt x="14176" y="82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5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 bwMode="gray">
            <a:xfrm rot="4680000">
              <a:off x="8750808" y="210312"/>
              <a:ext cx="301752" cy="374904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 bwMode="gray">
            <a:xfrm rot="4680000">
              <a:off x="8220456" y="155448"/>
              <a:ext cx="301752" cy="7040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429768"/>
            <a:ext cx="1999488" cy="582472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Vertical Text Placeholder 13"/>
          <p:cNvSpPr>
            <a:spLocks noGrp="1"/>
          </p:cNvSpPr>
          <p:nvPr>
            <p:ph type="body" orient="vert" sz="quarter" idx="13"/>
          </p:nvPr>
        </p:nvSpPr>
        <p:spPr bwMode="gray">
          <a:xfrm>
            <a:off x="609600" y="429768"/>
            <a:ext cx="8534400" cy="582472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8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3952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80642-35FC-4EDF-ADF2-09B55C437C1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3952"/>
            <a:ext cx="3860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936" y="6473952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7C4D-4863-4778-967B-B098E31A8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4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/>
        </a:buClr>
        <a:buSzPct val="75000"/>
        <a:buFont typeface="Wingdings" pitchFamily="2" charset="2"/>
        <a:buChar char="q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/>
        </a:buClr>
        <a:buSzPct val="70000"/>
        <a:buFont typeface="Wingdings 2" pitchFamily="18" charset="2"/>
        <a:buChar char="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/>
        </a:buClr>
        <a:buSzPct val="70000"/>
        <a:buFont typeface="Wingdings 2" pitchFamily="18" charset="2"/>
        <a:buChar char="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/>
        </a:buClr>
        <a:buSzPct val="100000"/>
        <a:buFont typeface="Wingdings 2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/>
        </a:buClr>
        <a:buSzPct val="100000"/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478473" y="661154"/>
            <a:ext cx="5067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문제 정의 및 배경</a:t>
            </a:r>
            <a:r>
              <a:rPr lang="en-US" altLang="ko-KR" b="1" dirty="0" smtClean="0"/>
              <a:t>: "</a:t>
            </a:r>
            <a:r>
              <a:rPr lang="ko-KR" altLang="en-US" b="1" dirty="0" smtClean="0"/>
              <a:t>내 기분은 누가 알아줄까</a:t>
            </a:r>
            <a:r>
              <a:rPr lang="en-US" altLang="ko-KR" b="1" dirty="0" smtClean="0"/>
              <a:t>?"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" y="1775460"/>
            <a:ext cx="4204335" cy="362712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355" y="1775460"/>
            <a:ext cx="4459605" cy="362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5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2080"/>
            <a:ext cx="6074675" cy="5455920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 flipV="1">
            <a:off x="4815840" y="1536522"/>
            <a:ext cx="2409455" cy="360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7225295" y="1402080"/>
            <a:ext cx="3794760" cy="504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사용자 텍스트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556014" y="2058272"/>
            <a:ext cx="3295651" cy="45361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4851665" y="2237562"/>
            <a:ext cx="2838450" cy="73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690115" y="2724696"/>
            <a:ext cx="3794760" cy="504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감정 분석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35874" y="4076700"/>
            <a:ext cx="5324846" cy="25984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5760720" y="5164187"/>
            <a:ext cx="2209800" cy="78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970520" y="4990554"/>
            <a:ext cx="3794760" cy="504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노래</a:t>
            </a:r>
            <a:r>
              <a:rPr lang="en-US" altLang="ko-KR" sz="1400" dirty="0" smtClean="0">
                <a:solidFill>
                  <a:schemeClr val="tx1"/>
                </a:solidFill>
              </a:rPr>
              <a:t>/</a:t>
            </a:r>
            <a:r>
              <a:rPr lang="ko-KR" altLang="en-US" sz="1400" dirty="0" smtClean="0">
                <a:solidFill>
                  <a:schemeClr val="tx1"/>
                </a:solidFill>
              </a:rPr>
              <a:t>아티스트</a:t>
            </a:r>
            <a:r>
              <a:rPr lang="en-US" altLang="ko-KR" sz="1400" dirty="0" smtClean="0">
                <a:solidFill>
                  <a:schemeClr val="tx1"/>
                </a:solidFill>
              </a:rPr>
              <a:t>'</a:t>
            </a:r>
            <a:r>
              <a:rPr lang="ko-KR" altLang="en-US" sz="1400" dirty="0" smtClean="0">
                <a:solidFill>
                  <a:schemeClr val="tx1"/>
                </a:solidFill>
              </a:rPr>
              <a:t>로 이어지는 아이콘 흐름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708329" y="449392"/>
            <a:ext cx="5125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프로젝트 목표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정서적 웰빙을 위한 </a:t>
            </a:r>
            <a:r>
              <a:rPr lang="en-US" altLang="ko-KR" b="1" dirty="0" smtClean="0"/>
              <a:t>AI </a:t>
            </a:r>
            <a:r>
              <a:rPr lang="ko-KR" altLang="en-US" b="1" dirty="0" err="1" smtClean="0"/>
              <a:t>큐레이션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24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%EC%8A%A4%ED%81%AC%EB%A6%B0%EC%83%B7_2025-11-20_094300.png"/>
          <p:cNvSpPr>
            <a:spLocks noChangeAspect="1" noChangeArrowheads="1"/>
          </p:cNvSpPr>
          <p:nvPr/>
        </p:nvSpPr>
        <p:spPr bwMode="auto">
          <a:xfrm>
            <a:off x="1865621" y="173777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4" descr="%EC%8A%A4%ED%81%AC%EB%A6%B0%EC%83%B7_2025-11-20_094300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1737776"/>
            <a:ext cx="10080625" cy="487552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033393" y="440174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시스템 흐름도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6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033393" y="440174"/>
            <a:ext cx="3637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핵심 기술 </a:t>
            </a:r>
            <a:r>
              <a:rPr lang="en-US" altLang="ko-KR" b="1" dirty="0" smtClean="0"/>
              <a:t>1: LLM </a:t>
            </a:r>
            <a:r>
              <a:rPr lang="ko-KR" altLang="en-US" b="1" dirty="0" smtClean="0"/>
              <a:t>기반 감정 분석</a:t>
            </a:r>
            <a:endParaRPr lang="ko-KR" altLang="en-US" dirty="0"/>
          </a:p>
        </p:txBody>
      </p:sp>
      <p:sp>
        <p:nvSpPr>
          <p:cNvPr id="5" name="AutoShape 2" descr="https://lh3.googleusercontent.com/gg-dl/ABS2GSk1tfdIFMIxSjEW_GTNCPKNL50hzOVOyAfH-Fc32OMNliDhQR-iaTFySJqsb-TWhEB4f6fp5qQW0oXb3x0RL2_2PADHnVpk-i9xt2J8TKIv6-6qk11nru7vddXh3nZs-lXUacHEIwdL5CQBWxi4ISO0RiwyOcDLRbRIIG3_79QfBpls1w=s1024-rj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https://lh3.googleusercontent.com/gg-dl/ABS2GSk1tfdIFMIxSjEW_GTNCPKNL50hzOVOyAfH-Fc32OMNliDhQR-iaTFySJqsb-TWhEB4f6fp5qQW0oXb3x0RL2_2PADHnVpk-i9xt2J8TKIv6-6qk11nru7vddXh3nZs-lXUacHEIwdL5CQBWxi4ISO0RiwyOcDLRbRIIG3_79QfBpls1w=s1024-rj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074420"/>
            <a:ext cx="6858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8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497576" y="447794"/>
            <a:ext cx="3013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핵심 기술 </a:t>
            </a:r>
            <a:r>
              <a:rPr lang="en-US" altLang="ko-KR" b="1" dirty="0" smtClean="0"/>
              <a:t>2: </a:t>
            </a:r>
            <a:r>
              <a:rPr lang="ko-KR" altLang="en-US" b="1" dirty="0" err="1" smtClean="0"/>
              <a:t>큐레이션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로직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75462"/>
              </p:ext>
            </p:extLst>
          </p:nvPr>
        </p:nvGraphicFramePr>
        <p:xfrm>
          <a:off x="1806236" y="1272146"/>
          <a:ext cx="8884624" cy="4386700"/>
        </p:xfrm>
        <a:graphic>
          <a:graphicData uri="http://schemas.openxmlformats.org/drawingml/2006/table">
            <a:tbl>
              <a:tblPr/>
              <a:tblGrid>
                <a:gridCol w="2221156">
                  <a:extLst>
                    <a:ext uri="{9D8B030D-6E8A-4147-A177-3AD203B41FA5}">
                      <a16:colId xmlns:a16="http://schemas.microsoft.com/office/drawing/2014/main" val="2694753399"/>
                    </a:ext>
                  </a:extLst>
                </a:gridCol>
                <a:gridCol w="2221156">
                  <a:extLst>
                    <a:ext uri="{9D8B030D-6E8A-4147-A177-3AD203B41FA5}">
                      <a16:colId xmlns:a16="http://schemas.microsoft.com/office/drawing/2014/main" val="1510173762"/>
                    </a:ext>
                  </a:extLst>
                </a:gridCol>
                <a:gridCol w="2221156">
                  <a:extLst>
                    <a:ext uri="{9D8B030D-6E8A-4147-A177-3AD203B41FA5}">
                      <a16:colId xmlns:a16="http://schemas.microsoft.com/office/drawing/2014/main" val="4268358403"/>
                    </a:ext>
                  </a:extLst>
                </a:gridCol>
                <a:gridCol w="2221156">
                  <a:extLst>
                    <a:ext uri="{9D8B030D-6E8A-4147-A177-3AD203B41FA5}">
                      <a16:colId xmlns:a16="http://schemas.microsoft.com/office/drawing/2014/main" val="2202486173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분석된 감정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주요 특징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추천 전략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예시 곡 스타일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271110"/>
                  </a:ext>
                </a:extLst>
              </a:tr>
              <a:tr h="948962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우울 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슬픔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위로와 공감 필요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감정의 공명 후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서서히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긍정적 전환 유도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잔잔한 발라드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어쿠스틱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뉴에이지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위로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400" dirty="0" smtClean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잔잔한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희망가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전환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945567"/>
                  </a:ext>
                </a:extLst>
              </a:tr>
              <a:tr h="532345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불안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초조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마음의 평화 필요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차분하고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안정감을 주는 음악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위주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Lo-Fi,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재즈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클래식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명상 음악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460098"/>
                  </a:ext>
                </a:extLst>
              </a:tr>
              <a:tr h="532345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희망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활기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긍정적 에너지 고취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현재 감정을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더욱 고조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시키는 활기찬 음악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팝</a:t>
                      </a:r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댄스</a:t>
                      </a:r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록</a:t>
                      </a:r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EDM (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에너지</a:t>
                      </a:r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998821"/>
                  </a:ext>
                </a:extLst>
              </a:tr>
              <a:tr h="74065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분노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짜증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해소 및 이완 필요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강렬한 감정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분출 후 이완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또는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기분 전환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헤비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메탈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힙합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분출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400" dirty="0" smtClean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팝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인디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전환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91454"/>
                  </a:ext>
                </a:extLst>
              </a:tr>
              <a:tr h="532345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평온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안정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현재 감정 유지 및 심화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휴식과 집중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돕는 배경 음악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재즈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클래식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자연의 소리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254014"/>
                  </a:ext>
                </a:extLst>
              </a:tr>
              <a:tr h="740653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복합 감정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미묘한 감정의 조합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감정별 전략을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조합하여 유연하게 추천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예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피곤하지만 후련함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400" dirty="0" smtClean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평온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희망의 조합</a:t>
                      </a:r>
                    </a:p>
                  </a:txBody>
                  <a:tcPr marL="86795" marR="86795" marT="57864" marB="57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4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2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169453" y="295394"/>
            <a:ext cx="2847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API </a:t>
            </a:r>
            <a:r>
              <a:rPr lang="ko-KR" altLang="en-US" dirty="0" smtClean="0"/>
              <a:t>선택의 이유 </a:t>
            </a:r>
            <a:r>
              <a:rPr lang="en-US" altLang="ko-KR" dirty="0" smtClean="0"/>
              <a:t>(GPT-4o)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90667"/>
              </p:ext>
            </p:extLst>
          </p:nvPr>
        </p:nvGraphicFramePr>
        <p:xfrm>
          <a:off x="617220" y="1136174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752492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013880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4968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OpenAI GPT API (GPT-4o)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Google Vertex AI (Gemini)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7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모델 성능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고도화된 추론 및 뉘앙스 파악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능력 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Google Cloud 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생태계에 최적화된 강력한 모델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70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한국어 처리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탁월한 문맥 이해 기반의 </a:t>
                      </a:r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정교한 감성 분석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광범위한 언어 데이터 기반의 안정적인 성능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37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개발 편의성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빠른 시작과 간결한 </a:t>
                      </a:r>
                      <a:r>
                        <a:rPr lang="en-US" altLang="ko-K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문서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로 개발 용이성 높음 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Google Cloud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익숙한 경우</a:t>
                      </a:r>
                      <a:r>
                        <a:rPr lang="en-US" altLang="ko-K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배포 및 통합 용이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351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클라우드 통합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별도의 </a:t>
                      </a:r>
                      <a:r>
                        <a:rPr lang="en-US" altLang="ko-KR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연동 필요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Google Cloud Platform (GCP) </a:t>
                      </a:r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서비스와 긴밀히 통합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735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비용 모델</a:t>
                      </a:r>
                      <a:endParaRPr lang="ko-KR" alt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주로 </a:t>
                      </a:r>
                      <a:r>
                        <a:rPr lang="ko-KR" alt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토큰</a:t>
                      </a:r>
                      <a:r>
                        <a:rPr lang="en-US" altLang="ko-KR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(Token)</a:t>
                      </a:r>
                      <a:r>
                        <a:rPr lang="ko-KR" alt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사용량 기반 청구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주로 </a:t>
                      </a:r>
                      <a:r>
                        <a:rPr lang="en-US" altLang="ko-KR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호출 및 문자</a:t>
                      </a:r>
                      <a:r>
                        <a:rPr lang="ko-KR" alt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사용량 기반 청구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319185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099560" y="1136174"/>
            <a:ext cx="3543300" cy="39319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9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시연</a:t>
            </a:r>
            <a:r>
              <a:rPr lang="en-US" altLang="ko-KR" dirty="0"/>
              <a:t>: </a:t>
            </a:r>
            <a:r>
              <a:rPr lang="ko-KR" altLang="en-US" dirty="0"/>
              <a:t>감정 인식의 순간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0" y="1401607"/>
            <a:ext cx="6078239" cy="545639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264920" y="1790699"/>
            <a:ext cx="3802380" cy="2590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5067300" y="2466162"/>
            <a:ext cx="2072640" cy="117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7139940" y="2250511"/>
            <a:ext cx="3543300" cy="8889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139940" y="2314445"/>
            <a:ext cx="3360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/>
              <a:t>ＥＸ） </a:t>
            </a:r>
            <a:r>
              <a:rPr lang="en-US" altLang="ko-KR" sz="1200" dirty="0" smtClean="0"/>
              <a:t>"</a:t>
            </a:r>
            <a:r>
              <a:rPr lang="ko-KR" altLang="en-US" sz="1200" dirty="0" smtClean="0"/>
              <a:t>어제 발표 준비 때문에 밤샘을 했더니 너무 피곤하고 </a:t>
            </a:r>
            <a:r>
              <a:rPr lang="ko-KR" altLang="en-US" sz="1200" dirty="0" err="1" smtClean="0"/>
              <a:t>초조해요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그래도 마무리하고 나니 후련하기도 하네요</a:t>
            </a:r>
            <a:r>
              <a:rPr lang="en-US" altLang="ko-KR" sz="1200" dirty="0" smtClean="0"/>
              <a:t>."</a:t>
            </a:r>
            <a:endParaRPr lang="ko-KR" altLang="en-US" sz="1200" dirty="0"/>
          </a:p>
        </p:txBody>
      </p:sp>
      <p:sp>
        <p:nvSpPr>
          <p:cNvPr id="11" name="아래쪽 화살표 10"/>
          <p:cNvSpPr/>
          <p:nvPr/>
        </p:nvSpPr>
        <p:spPr>
          <a:xfrm>
            <a:off x="8496300" y="3139441"/>
            <a:ext cx="647700" cy="746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139940" y="3895126"/>
            <a:ext cx="3543300" cy="178177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139940" y="4025331"/>
            <a:ext cx="3764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분석 결과</a:t>
            </a:r>
            <a:r>
              <a:rPr lang="en-US" altLang="ko-KR" b="1" dirty="0" smtClean="0"/>
              <a:t>]</a:t>
            </a:r>
            <a:r>
              <a:rPr lang="en-US" altLang="ko-KR" dirty="0" smtClean="0"/>
              <a:t>: "</a:t>
            </a:r>
            <a:r>
              <a:rPr lang="ko-KR" altLang="en-US" dirty="0" smtClean="0"/>
              <a:t>불안</a:t>
            </a:r>
            <a:r>
              <a:rPr lang="en-US" altLang="ko-KR" dirty="0" smtClean="0"/>
              <a:t>(40%) + </a:t>
            </a:r>
            <a:r>
              <a:rPr lang="ko-KR" altLang="en-US" dirty="0" smtClean="0"/>
              <a:t>후련함</a:t>
            </a:r>
            <a:r>
              <a:rPr lang="en-US" altLang="ko-KR" dirty="0" smtClean="0"/>
              <a:t>(60%)", </a:t>
            </a:r>
            <a:r>
              <a:rPr lang="en-US" altLang="ko-KR" b="1" dirty="0" smtClean="0"/>
              <a:t>[</a:t>
            </a:r>
            <a:r>
              <a:rPr lang="ko-KR" altLang="en-US" b="1" dirty="0" smtClean="0"/>
              <a:t>추천</a:t>
            </a:r>
            <a:r>
              <a:rPr lang="en-US" altLang="ko-KR" b="1" dirty="0" smtClean="0"/>
              <a:t>]</a:t>
            </a:r>
            <a:r>
              <a:rPr lang="en-US" altLang="ko-KR" dirty="0" smtClean="0"/>
              <a:t>: </a:t>
            </a:r>
            <a:r>
              <a:rPr lang="ko-KR" altLang="en-US" dirty="0" smtClean="0"/>
              <a:t>불안을 해소하고 </a:t>
            </a:r>
            <a:endParaRPr lang="en-US" altLang="ko-KR" dirty="0" smtClean="0"/>
          </a:p>
          <a:p>
            <a:r>
              <a:rPr lang="ko-KR" altLang="en-US" dirty="0" smtClean="0"/>
              <a:t>활력을 주는 노래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946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시연</a:t>
            </a:r>
            <a:r>
              <a:rPr lang="en-US" altLang="ko-KR" dirty="0" smtClean="0"/>
              <a:t>:</a:t>
            </a:r>
            <a:r>
              <a:rPr lang="ko-KR" altLang="en-US" dirty="0" smtClean="0"/>
              <a:t>오늘의 감정은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9" y="1572541"/>
            <a:ext cx="6758439" cy="459169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701636" y="3453244"/>
            <a:ext cx="1353787" cy="46561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4055423" y="3801840"/>
            <a:ext cx="4007922" cy="23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475" y="2782288"/>
            <a:ext cx="2750517" cy="261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" y="708660"/>
            <a:ext cx="6074675" cy="54559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40180" y="1851659"/>
            <a:ext cx="3665220" cy="158496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5105400" y="2527122"/>
            <a:ext cx="2072640" cy="117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36320"/>
            <a:ext cx="4268836" cy="430491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66921" y="148830"/>
            <a:ext cx="5040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평가 결과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공감 지수 사용자 </a:t>
            </a:r>
            <a:r>
              <a:rPr lang="ko-KR" altLang="en-US" b="1" dirty="0" err="1" smtClean="0"/>
              <a:t>평가（댓글분석</a:t>
            </a:r>
            <a:r>
              <a:rPr lang="ko-KR" altLang="en-US" b="1" dirty="0" smtClean="0"/>
              <a:t>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307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781115" y="432554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결론 및 기대효과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감성적 공감 시대를 열다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" y="1120140"/>
            <a:ext cx="6410325" cy="48768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018020" y="1120140"/>
            <a:ext cx="3619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"</a:t>
            </a:r>
            <a:r>
              <a:rPr lang="ko-KR" altLang="en-US" dirty="0" smtClean="0"/>
              <a:t>기존의 </a:t>
            </a:r>
            <a:r>
              <a:rPr lang="en-US" altLang="ko-KR" dirty="0" smtClean="0"/>
              <a:t>'</a:t>
            </a:r>
            <a:r>
              <a:rPr lang="ko-KR" altLang="en-US" dirty="0" smtClean="0"/>
              <a:t>데이터 기반 추천</a:t>
            </a:r>
            <a:r>
              <a:rPr lang="en-US" altLang="ko-KR" dirty="0" smtClean="0"/>
              <a:t>'</a:t>
            </a:r>
            <a:r>
              <a:rPr lang="ko-KR" altLang="en-US" dirty="0" smtClean="0"/>
              <a:t>을 넘어선 감성 기반 ＡＩ</a:t>
            </a:r>
            <a:r>
              <a:rPr lang="en-US" altLang="ko-KR" dirty="0" smtClean="0"/>
              <a:t>＇</a:t>
            </a:r>
            <a:r>
              <a:rPr lang="ko-KR" altLang="en-US" dirty="0" smtClean="0"/>
              <a:t>이라는 새로운 사용자 경험을 제공합니다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사용자의 정서적 웰빙</a:t>
            </a:r>
            <a:r>
              <a:rPr lang="en-US" altLang="ko-KR" dirty="0" smtClean="0"/>
              <a:t>(Emotional Well-being) </a:t>
            </a:r>
            <a:r>
              <a:rPr lang="ko-KR" altLang="en-US" dirty="0" smtClean="0"/>
              <a:t>을 지원하고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음악 청취의 만족도를 혁신적으로 높일 수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39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Education03">
  <a:themeElements>
    <a:clrScheme name="Education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ucation03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ducation03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hade val="100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sx="102000" sy="102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3500" dist="25400" dir="5400000" sx="102000" sy="102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6600000"/>
            </a:lightRig>
          </a:scene3d>
          <a:sp3d contourW="12700" prstMaterial="dkEdge">
            <a:bevelT w="31750" h="19050" prst="softRound"/>
            <a:contourClr>
              <a:schemeClr val="phClr"/>
            </a:contourClr>
          </a:sp3d>
        </a:effectStyle>
        <a:effectStyle>
          <a:effectLst>
            <a:outerShdw blurRad="63500" dist="25400" dir="5400000" sx="102000" sy="102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6600000"/>
            </a:lightRig>
          </a:scene3d>
          <a:sp3d contourW="12700" prstMaterial="dkEdge">
            <a:bevelT w="69850" h="5715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50000"/>
              </a:schemeClr>
            </a:gs>
            <a:gs pos="64000">
              <a:schemeClr val="phClr">
                <a:tint val="100000"/>
                <a:shade val="85000"/>
                <a:satMod val="130000"/>
              </a:schemeClr>
            </a:gs>
            <a:gs pos="72000">
              <a:schemeClr val="phClr">
                <a:shade val="85000"/>
                <a:satMod val="13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90000"/>
                <a:satMod val="200000"/>
              </a:schemeClr>
            </a:gs>
            <a:gs pos="100000">
              <a:schemeClr val="phClr">
                <a:shade val="70000"/>
                <a:satMod val="150000"/>
              </a:schemeClr>
            </a:gs>
          </a:gsLst>
          <a:path path="circle">
            <a:fillToRect l="50000" t="10000" r="50000" b="9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TM10237560[[fn=메모 테마]]</Template>
  <TotalTime>588</TotalTime>
  <Words>405</Words>
  <Application>Microsoft Office PowerPoint</Application>
  <PresentationFormat>와이드스크린</PresentationFormat>
  <Paragraphs>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Google Sans Text</vt:lpstr>
      <vt:lpstr>맑은 고딕</vt:lpstr>
      <vt:lpstr>Arial</vt:lpstr>
      <vt:lpstr>Corbel</vt:lpstr>
      <vt:lpstr>Wingdings</vt:lpstr>
      <vt:lpstr>Wingdings 2</vt:lpstr>
      <vt:lpstr>New_Education03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시연: 감정 인식의 순간</vt:lpstr>
      <vt:lpstr>프로젝트 시연:오늘의 감정은?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14</cp:revision>
  <dcterms:created xsi:type="dcterms:W3CDTF">2025-11-13T02:46:26Z</dcterms:created>
  <dcterms:modified xsi:type="dcterms:W3CDTF">2025-12-04T06:30:16Z</dcterms:modified>
</cp:coreProperties>
</file>