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43bffd5d40c4e71" /><Relationship Type="http://schemas.openxmlformats.org/officeDocument/2006/relationships/extended-properties" Target="/docProps/app.xml" Id="R18f8057382da4648" /><Relationship Type="http://schemas.openxmlformats.org/officeDocument/2006/relationships/officeDocument" Target="/ppt/presentation.xml" Id="Re78f0d2ac30c4f4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0b5337df683467c"/>
  </p:sldMasterIdLst>
  <p:notesMasterIdLst>
    <p:notesMasterId xmlns:r="http://schemas.openxmlformats.org/officeDocument/2006/relationships" r:id="R944d6e3be5d64590"/>
  </p:notesMasterIdLst>
  <p:sldIdLst>
    <p:sldId xmlns:r="http://schemas.openxmlformats.org/officeDocument/2006/relationships" id="256" r:id="R290a540f61184d07"/>
    <p:sldId xmlns:r="http://schemas.openxmlformats.org/officeDocument/2006/relationships" id="257" r:id="Re9f2002960ba46cf"/>
    <p:sldId xmlns:r="http://schemas.openxmlformats.org/officeDocument/2006/relationships" id="258" r:id="R2714f1fa657a4ce3"/>
    <p:sldId xmlns:r="http://schemas.openxmlformats.org/officeDocument/2006/relationships" id="259" r:id="R72a37bac64354f82"/>
    <p:sldId xmlns:r="http://schemas.openxmlformats.org/officeDocument/2006/relationships" id="260" r:id="R293c08443a8d4f91"/>
    <p:sldId xmlns:r="http://schemas.openxmlformats.org/officeDocument/2006/relationships" id="261" r:id="Rb8a2a19dfbdd469b"/>
    <p:sldId xmlns:r="http://schemas.openxmlformats.org/officeDocument/2006/relationships" id="262" r:id="Rcfa61e42182240bb"/>
    <p:sldId xmlns:r="http://schemas.openxmlformats.org/officeDocument/2006/relationships" id="263" r:id="Ra50d6a5a211547a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ae34de341684347" /><Relationship Type="http://schemas.openxmlformats.org/officeDocument/2006/relationships/slideMaster" Target="/ppt/slideMasters/slideMaster1.xml" Id="Rd0b5337df683467c" /><Relationship Type="http://schemas.openxmlformats.org/officeDocument/2006/relationships/notesMaster" Target="/ppt/notesMasters/notesMaster1.xml" Id="R944d6e3be5d64590" /><Relationship Type="http://schemas.openxmlformats.org/officeDocument/2006/relationships/presProps" Target="/ppt/presProps.xml" Id="R574b54b24f0e4387" /><Relationship Type="http://schemas.openxmlformats.org/officeDocument/2006/relationships/viewProps" Target="/ppt/viewProps.xml" Id="R281588e0565f4914" /><Relationship Type="http://schemas.openxmlformats.org/officeDocument/2006/relationships/tableStyles" Target="/ppt/tableStyles.xml" Id="Rd27825317eaa4271" /><Relationship Type="http://schemas.openxmlformats.org/officeDocument/2006/relationships/slide" Target="/ppt/slides/slide1.xml" Id="R290a540f61184d07" /><Relationship Type="http://schemas.openxmlformats.org/officeDocument/2006/relationships/slide" Target="/ppt/slides/slide2.xml" Id="Re9f2002960ba46cf" /><Relationship Type="http://schemas.openxmlformats.org/officeDocument/2006/relationships/slide" Target="/ppt/slides/slide3.xml" Id="R2714f1fa657a4ce3" /><Relationship Type="http://schemas.openxmlformats.org/officeDocument/2006/relationships/slide" Target="/ppt/slides/slide4.xml" Id="R72a37bac64354f82" /><Relationship Type="http://schemas.openxmlformats.org/officeDocument/2006/relationships/slide" Target="/ppt/slides/slide5.xml" Id="R293c08443a8d4f91" /><Relationship Type="http://schemas.openxmlformats.org/officeDocument/2006/relationships/slide" Target="/ppt/slides/slide6.xml" Id="Rb8a2a19dfbdd469b" /><Relationship Type="http://schemas.openxmlformats.org/officeDocument/2006/relationships/slide" Target="/ppt/slides/slide7.xml" Id="Rcfa61e42182240bb" /><Relationship Type="http://schemas.openxmlformats.org/officeDocument/2006/relationships/slide" Target="/ppt/slides/slide8.xml" Id="Ra50d6a5a211547a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db093a7ad5944f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5de06c30b594ad4" /><Relationship Type="http://schemas.openxmlformats.org/officeDocument/2006/relationships/notesMaster" Target="/ppt/notesMasters/notesMaster1.xml" Id="Rdc0101d2f156413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b1820e90a654c48" /><Relationship Type="http://schemas.openxmlformats.org/officeDocument/2006/relationships/notesMaster" Target="/ppt/notesMasters/notesMaster1.xml" Id="R90fe66ba70c84b5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67ab04e7c904347" /><Relationship Type="http://schemas.openxmlformats.org/officeDocument/2006/relationships/notesMaster" Target="/ppt/notesMasters/notesMaster1.xml" Id="Recc0ebf21aeb4e4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9fed74cc91e4ad7" /><Relationship Type="http://schemas.openxmlformats.org/officeDocument/2006/relationships/notesMaster" Target="/ppt/notesMasters/notesMaster1.xml" Id="Rf1c17a390b6c4e4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d06dd52da404ef2" /><Relationship Type="http://schemas.openxmlformats.org/officeDocument/2006/relationships/notesMaster" Target="/ppt/notesMasters/notesMaster1.xml" Id="R7f5c076bd8094d5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9edad15e4334ed7" /><Relationship Type="http://schemas.openxmlformats.org/officeDocument/2006/relationships/notesMaster" Target="/ppt/notesMasters/notesMaster1.xml" Id="R564cac50400349a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8d39464f4554304" /><Relationship Type="http://schemas.openxmlformats.org/officeDocument/2006/relationships/notesMaster" Target="/ppt/notesMasters/notesMaster1.xml" Id="Ref7500c75cc4488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fa0c034a6bd4cbb" /><Relationship Type="http://schemas.openxmlformats.org/officeDocument/2006/relationships/notesMaster" Target="/ppt/notesMasters/notesMaster1.xml" Id="Rb6751df14c604f4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e74b6c98974da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65a911dc4e74585" /><Relationship Type="http://schemas.openxmlformats.org/officeDocument/2006/relationships/slideLayout" Target="/ppt/slideLayouts/slideLayout1.xml" Id="R139df2ecfb1f42e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39df2ecfb1f42e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78a02aa6164a80" /><Relationship Type="http://schemas.openxmlformats.org/officeDocument/2006/relationships/image" Target="/ppt/media/image.png" Id="R6131ea8312134b5b" /><Relationship Type="http://schemas.openxmlformats.org/officeDocument/2006/relationships/image" Target="/ppt/media/image2.png" Id="Rca5ac4290bbd414c" /><Relationship Type="http://schemas.openxmlformats.org/officeDocument/2006/relationships/image" Target="/ppt/media/image3.png" Id="R6dd0199c18014ef4" /><Relationship Type="http://schemas.openxmlformats.org/officeDocument/2006/relationships/notesSlide" Target="/ppt/notesSlides/notesSlide1.xml" Id="Re0697ce2d87b4ae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a5d35a880045e3" /><Relationship Type="http://schemas.openxmlformats.org/officeDocument/2006/relationships/notesSlide" Target="/ppt/notesSlides/notesSlide2.xml" Id="R50c2f7a5e34449c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d119a123a84142" /><Relationship Type="http://schemas.openxmlformats.org/officeDocument/2006/relationships/notesSlide" Target="/ppt/notesSlides/notesSlide3.xml" Id="R10c6edb3db4a429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6d5f7409ec47ad" /><Relationship Type="http://schemas.openxmlformats.org/officeDocument/2006/relationships/image" Target="/ppt/media/image4.png" Id="R363794cbfcd547a6" /><Relationship Type="http://schemas.openxmlformats.org/officeDocument/2006/relationships/notesSlide" Target="/ppt/notesSlides/notesSlide4.xml" Id="R6aa937251c9841b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b6cd830a3b4295" /><Relationship Type="http://schemas.openxmlformats.org/officeDocument/2006/relationships/image" Target="/ppt/media/image5.png" Id="R677af76bf42f41e7" /><Relationship Type="http://schemas.openxmlformats.org/officeDocument/2006/relationships/notesSlide" Target="/ppt/notesSlides/notesSlide5.xml" Id="R50b8a9665fd4411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631e2d26094d12" /><Relationship Type="http://schemas.openxmlformats.org/officeDocument/2006/relationships/image" Target="/ppt/media/image6.png" Id="Rc3d4330dec03475e" /><Relationship Type="http://schemas.openxmlformats.org/officeDocument/2006/relationships/image" Target="/ppt/media/image7.png" Id="R22481483600c4ee4" /><Relationship Type="http://schemas.openxmlformats.org/officeDocument/2006/relationships/notesSlide" Target="/ppt/notesSlides/notesSlide6.xml" Id="Re53c02747bfd47e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170f6a57d5422f" /><Relationship Type="http://schemas.openxmlformats.org/officeDocument/2006/relationships/image" Target="/ppt/media/image8.png" Id="Rda95cf479de548c7" /><Relationship Type="http://schemas.openxmlformats.org/officeDocument/2006/relationships/notesSlide" Target="/ppt/notesSlides/notesSlide7.xml" Id="R7947aa19062e492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9d6416b5db4fa5" /><Relationship Type="http://schemas.openxmlformats.org/officeDocument/2006/relationships/image" Target="/ppt/media/image9.png" Id="R18d42464e0364c04" /><Relationship Type="http://schemas.openxmlformats.org/officeDocument/2006/relationships/notesSlide" Target="/ppt/notesSlides/notesSlide8.xml" Id="R0b2af64ac6ed44e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472CFAA-AA23-4EA4-BC43-92B8372B1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F077B7-32C4-4956-A378-D1CD355E7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"/>
            <a:ext cx="695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3C5F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93C5FD"/>
                </a:solidFill>
                <a:latin typeface="Aptos"/>
                <a:ea typeface="Aptos"/>
                <a:cs typeface="Aptos"/>
              </a:rPr>
              <a:t>프로젝트 결과 보고서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5852EE-D3FF-4A03-AA1E-16A813172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7429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3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플라즈마 식각 장비</a:t>
            </a:r>
          </a:p>
          <a:p xmlns:a="http://schemas.openxmlformats.org/drawingml/2006/main">
            <a:pPr algn="l">
              <a:defRPr sz="33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3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Load Lock HMI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594483-3C4C-4A2D-B090-463266D1C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628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WPF 기반 장비 제어 화면과 Flask 원격 모니터링, AI 진단 API를 연동한 반도체 식각 공정 데모 시스템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A09BAF-F10B-4956-A231-DC9239C1B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9A4C55-6A73-4255-97F9-0B92D9C6B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90850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WPF HMI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22C152-C020-4099-83B1-09B68EB92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9337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41BD2D-6445-4026-AF10-B6FC4DF91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990850"/>
            <a:ext cx="123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Flask Dashboard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4B060B-AFF9-4DB5-ADCD-79317D230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93370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3C678C-EB5A-4537-BC17-15B01A481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990850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AI 진단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D1AE07-1AAF-4CB0-A881-AF3CB46E9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933700"/>
            <a:ext cx="12858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3F31B3-4AF5-45D9-8F30-AEDE62C89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990850"/>
            <a:ext cx="10953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SQLite 이력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31ea8312134b5b"/>
          <a:srcRect xmlns:a="http://schemas.openxmlformats.org/drawingml/2006/main" l="0" t="85" r="0" b="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685800"/>
            <a:ext cx="4953000" cy="2781300"/>
          </a:xfrm>
          <a:prstGeom xmlns:a="http://schemas.openxmlformats.org/drawingml/2006/main" prst="rect">
            <a:avLst/>
          </a:prstGeom>
        </p:spPr>
      </p:pic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5ac4290bbd414c"/>
          <a:srcRect xmlns:a="http://schemas.openxmlformats.org/drawingml/2006/main" l="1172" t="0" r="117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3676650"/>
            <a:ext cx="2381250" cy="1524000"/>
          </a:xfrm>
          <a:prstGeom xmlns:a="http://schemas.openxmlformats.org/drawingml/2006/main" prst="rect">
            <a:avLst/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d0199c18014ef4"/>
          <a:srcRect xmlns:a="http://schemas.openxmlformats.org/drawingml/2006/main" l="1172" t="0" r="117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44000" y="3676650"/>
            <a:ext cx="2381250" cy="152400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99BC84-7138-4255-A8EB-B0A83B1ED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578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B35C42-FCB7-4A90-BC11-45E4ED0B6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742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핵심 산출물: 장비 상태 UI, 가상 TM 이송 도식, 원격 모니터링 대시보드, 모듈/레시피 API, sklearn 기반 AI 진단 흐름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9134E2-7CEE-4222-B163-081BC08C5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057900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2026.06</a:t>
            </a:r>
          </a:p>
        </p:txBody>
      </p:sp>
    </p:spTree>
    <p:extLst>
      <p:ext uri="{BB962C8B-B14F-4D97-AF65-F5344CB8AC3E}">
        <p14:creationId xmlns:p14="http://schemas.microsoft.com/office/powerpoint/2010/main" val="106521061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675888B-A2BD-4342-ACD2-8C2E3BEDF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06FB2B-7252-47C1-8BF4-C9ECDC22D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프로젝트 목표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3A220C-39A1-457F-BDF3-55DFD2B33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7810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장비 제어 화면과 원격 모니터링을 분리해 데모 안정성과 관찰성을 확보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A929C0-A0DF-421C-88DD-59575DB4D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CE3B0E-2F29-48A1-83AE-8A43F1749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24000"/>
            <a:ext cx="3143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0EA01E-6DD2-41F3-B577-755EDAD4E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24000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0ED9EB-159B-49BE-AC7D-7CD8E5E76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764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문제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D08369-46C9-4FB6-9B0B-C121CCBA8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62150"/>
            <a:ext cx="2857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실장비가 없어도 Load Lock, 챔버, 센서, 버튼/램프 상태를 발표에서 설득력 있게 보여줘야 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CB494E-2863-459D-85D9-41699D6B6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524000"/>
            <a:ext cx="3143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ACA8E8-CA53-4734-92AF-F95EBA224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524000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A0525E-39EC-4ACC-B61D-E2026589E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6764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접근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1079BD-D902-41F7-AF5E-395707255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962150"/>
            <a:ext cx="2857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WPF는 운전/제어와 가상 TM 시각화를 담당하고, Flask는 원격 조회와 이력·AI API를 담당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436E4B-DC4B-4D79-8840-DD0493D53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524000"/>
            <a:ext cx="3143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CCDD80-5E50-4896-BD72-98BACD920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524000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F50322-E569-4A27-A78F-3E390FF90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6764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결과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E7C498-3894-4798-8FD9-52EBCE3BE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962150"/>
            <a:ext cx="2857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단일 PC 데모에서도 HMI 화면, 서버 대시보드, 모듈/레시피/AI 증거 화면을 동시에 제시 가능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DC4866-3533-4C3A-81A5-55D4171AE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19500"/>
            <a:ext cx="4476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구현 범위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EF2364-379F-425D-9F31-FCB55825E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433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46E1BB-3FAF-476D-BEC2-6AA723610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95750"/>
            <a:ext cx="476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WPF .NET 8 기반 Etch Load Lock HMI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AFED77-7AEF-4B10-BA99-5C4A45D3F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862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1D0AA1-4119-4D76-91D3-CCEDE51B3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38650"/>
            <a:ext cx="476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가상 TM/EFEM/PM 모듈 도식 및 상태 표시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FF3ADD-2BC7-4B9B-B3FA-5E8E6DB91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291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B78ED4-C816-4CA8-BC9D-4BF493198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81550"/>
            <a:ext cx="476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Flask 원격 모니터링 대시보드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FC4172-4FC5-489A-8536-AAC2B87F6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720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E4759C-3537-4EEF-9B6D-6742C616B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24450"/>
            <a:ext cx="476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모듈 상태, 활성 레시피, 이벤트, 센서 이력 API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96E05B-EE90-439D-95BD-6854C7154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149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85051D-E9DA-4C1A-AD84-06B4061C6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67350"/>
            <a:ext cx="476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sklearn 모델 + 규칙 fallback 구조의 AI 진단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CB2CC7A-BFA9-4281-83F2-5E420FE74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57600"/>
            <a:ext cx="4953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C7D2F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7834BA1-A907-4000-840C-BC980E06C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62400"/>
            <a:ext cx="447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12E8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12E81"/>
                </a:solidFill>
                <a:latin typeface="Aptos"/>
                <a:ea typeface="Aptos"/>
                <a:cs typeface="Aptos"/>
              </a:rPr>
              <a:t>발표에서 보여줄 수 있는 가치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E45DEC1-47D6-4933-9683-2BA53E349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5053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1B4A33B-3685-42E6-BDDC-A08CDD723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5770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장비 상태를 한 화면에서 스캔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F3805CE-F765-4D95-B8C3-B1E14CF45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8006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96AA499-4CAE-49E7-B9EE-1558F170D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752975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WPF와 웹 대시보드 연동 증명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8969A0D-A377-4D40-9298-C541CF41A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0958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4F39956-8647-488F-BBD8-BDFF42739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04825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센서 이상·인터락 상태 판단 흐름 설명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7645551-8C6C-4ED8-A733-C4F731B94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3911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3E6E5B3-DF35-417C-B3EC-12A00DD92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343525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향후 실장비/TwinCAT 연결 확장 경로 제시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4C5E821-7F2B-43C1-A9A9-3907ACDBE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Etch Load Lock HMI 결과 보고서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F32FAD5-C733-4B73-9F20-FC956617C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7225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0358049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CB923CE-8496-42C7-A090-C9865D55B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7EA0F2-6533-4CC5-A6D3-7C92B787E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시스템 구성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AAD04D-1F65-40D7-B46B-5A2EDEBF8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7810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장비 신호, HMI 제어, 서버 모니터링, AI 진단을 느슨하게 결합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A99918-B123-4920-B955-3A6EA8EAA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86B757-0825-4358-B54F-4B787D511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62125"/>
            <a:ext cx="23812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4288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7C555A-FBE3-4E56-9E0D-4B0055DB2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14525"/>
            <a:ext cx="2038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실장비 / 시뮬레이터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52D654-586C-46ED-AF95-5FD9634B4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19325"/>
            <a:ext cx="20383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압력, 진동, 온습도, Load Lock 접촉, 버튼 DI, 램프 DO를 실제 또는 데모 데이터로 공급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2203D1-D683-4D6D-B959-B4ADD1A89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762125"/>
            <a:ext cx="27622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14288">
            <a:solidFill>
              <a:srgbClr val="93C5F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C9B4FE-A997-4C5C-A620-E88B4FAF1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914525"/>
            <a:ext cx="2419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WPF HMI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5BD2FB-72BC-4B24-9C72-603C4E2C0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219325"/>
            <a:ext cx="24193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운전 버튼, 인터락 판단, 가상 TM 이송 도식, 이벤트/알람 이력, AI 조언 패널 제공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B386E8-9530-4241-9496-BC8AD6C94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762125"/>
            <a:ext cx="27622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EFF"/>
          </a:solidFill>
          <a:ln xmlns:a="http://schemas.openxmlformats.org/drawingml/2006/main" w="14288">
            <a:solidFill>
              <a:srgbClr val="67E8F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F461F4-30A9-4AB8-BC7B-E27E45087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914525"/>
            <a:ext cx="2419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Flask Monitoring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320699-8622-49E3-B285-58FF55A81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19325"/>
            <a:ext cx="24193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브라우저에서 센서, 서버 이력, 이벤트, 모듈 상태, 레시피, AI 진단을 조회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F1BDA4-9B06-42E8-9164-3530670F5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495550"/>
            <a:ext cx="1009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0B7995-3B9F-4329-A9DF-1639D4395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288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F55126-0539-47ED-B2F5-87B3D9F27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24790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ADS/Simulation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0D2251-F862-4BD0-A912-6D61AF8F6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495550"/>
            <a:ext cx="1009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4B1BF2-19B8-465A-9B1D-FE1C5004E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4288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7ED35C-4938-4299-9D22-6E819B443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24790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REST JSON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233051-CF0F-429C-8E20-5F5CA57E3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229100"/>
            <a:ext cx="2857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FF"/>
          </a:solidFill>
          <a:ln xmlns:a="http://schemas.openxmlformats.org/drawingml/2006/main" w="14288">
            <a:solidFill>
              <a:srgbClr val="C4B5F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B3D6A5-340E-4492-9EB7-7B8C0BA56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381500"/>
            <a:ext cx="2514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SQLite / JSONL 이력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AE95DE-C641-456D-89EF-C69A165BE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686300"/>
            <a:ext cx="25146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운전 로그, 알람, 이벤트, AI 학습 스냅샷을 저장해 재현 가능한 데모와 재학습 기반 마련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4B2131-2836-4EE6-8228-78E340DDD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229100"/>
            <a:ext cx="2857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4"/>
          </a:solidFill>
          <a:ln xmlns:a="http://schemas.openxmlformats.org/drawingml/2006/main" w="14288">
            <a:solidFill>
              <a:srgbClr val="86EFA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CBD56A-DCB5-4CAB-8105-EC18EBD89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381500"/>
            <a:ext cx="2514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AI 진단 엔진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4621EF-A23D-4F4F-B55E-60AB488C4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686300"/>
            <a:ext cx="25146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joblib 모델이 있으면 sklearn 추론을 우선 사용하고, 없으면 규칙 기반 판단으로 fallback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14149E-A1AC-4B9C-8038-E62197CC1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810125"/>
            <a:ext cx="1714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839473-4F20-4D1F-B02A-811C8A116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55295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학습/추론 데이터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520109A-E2C5-440F-8E17-0D920B5D5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Etch Load Lock HMI 결과 보고서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1746027-9314-42A3-B4DC-CC8921C1A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7225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4230912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24B6DA5-B55C-40FE-9882-AC9728C55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C5F7E9-32FD-465E-B50A-E26D506E9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WPF HMI 구현 결과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ACCDD8-359C-44F9-9DFB-0065638E9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7810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실제 실행 캡처: 장비 도식, 인터락, 램프/공정 조작, 관리자 기능을 한 화면에 배치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3095A8-CC85-4804-9F04-EE4E8B6DC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3794cbfcd547a6"/>
          <a:srcRect xmlns:a="http://schemas.openxmlformats.org/drawingml/2006/main" l="5000" t="0" r="50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409700"/>
            <a:ext cx="7620000" cy="4762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B5F951-C06D-49D7-AB26-28E2206F4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47800"/>
            <a:ext cx="2857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F26BD9-2C88-4596-ABE1-4FBDB59CA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47800"/>
            <a:ext cx="476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4A20B7-68D6-4B3D-A58F-035D3DB94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600200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장비 상태 도식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2FDEF6-8CEB-40A4-8C44-B278CE66D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885950"/>
            <a:ext cx="2571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LP/EFEM/Aligner/BM/PM 챔버의 가상 이송 흐름과 모듈 상태를 시각적으로 확인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E3A23A-1C71-44C3-BD40-490CA3D4B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24150"/>
            <a:ext cx="2857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DAF1A3-4A30-4E40-BABF-28891FE61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24150"/>
            <a:ext cx="476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5EAF67-52F8-4BA2-BEAC-87242E21A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876550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인터락 기준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72338F-7FD0-4AD0-AC23-D3166CEF9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162300"/>
            <a:ext cx="2571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압력, 진동, 온습도, 접촉 상태를 appsettings 기준으로 표시해 데모 판단 근거를 제공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7F4B05-3DF5-4BF4-BC41-4CB22408A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00500"/>
            <a:ext cx="2857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DD19FA-3F09-44CB-B255-2A7ACABC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00500"/>
            <a:ext cx="476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856045-744A-43D5-A8F2-5628E99E8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152900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운전 제어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61D954-A2DF-4119-8272-AE794593A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438650"/>
            <a:ext cx="2571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Start/Stop/Alarm Reset/Maintenance 버튼과 램프 상태를 운영자 화면에 고정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7FB6B6-1FEE-46EB-8F0B-EB988C135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276850"/>
            <a:ext cx="2857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938F16-3F36-464E-B018-868B67636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276850"/>
            <a:ext cx="47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04A512-D115-4740-8C0D-6E21254D1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429250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보안/이력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3D8D5F-721A-421E-8C68-AA1A0F096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715000"/>
            <a:ext cx="2571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관리자 로그인, 사용자 관리, 이벤트 로그, 알람 이력을 별도 창으로 분리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21E04B-4AE4-497A-B153-647AFDAC7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Etch Load Lock HMI 결과 보고서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55CD2C-5F3D-4058-820B-A9C0A8217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7225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4486120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28726C-5997-4FDE-8BBD-92DC55C3A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CC7D87-51CD-4CD5-8641-C13BABBDC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Flask 원격 모니터링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A406FC-3E13-44D3-8A86-396C4D0EB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7810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WPF가 보낸 텔레메트리를 브라우저에서 조회하는 별도 관찰 화면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1EEA6A-DA53-4D0C-A4F6-C31B9A021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7af76bf42f41e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428750"/>
            <a:ext cx="7239000" cy="45243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0B6A97-9B3C-46C5-AB5B-188C8BD93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524000"/>
            <a:ext cx="314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웹 대시보드는 발표 중 관찰자 화면 역할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66EC85-70C2-4DCA-AA57-E823A0260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190750"/>
            <a:ext cx="3143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F5E203-A923-4066-8FE8-540A72FBB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190750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7B5CC6-130C-4F12-8464-EBDAE8C7B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431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센서 현황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DA7096-48A4-4E70-9E54-D1CB13AE4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2890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압력, 진동, 온도, 습도, 도어 상태를 카드와 이력 표로 표시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D5D1C0-5C78-4FDC-B4FC-0B99A1C54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257550"/>
            <a:ext cx="3143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84FCC9-D7AC-4441-830E-32042667A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257550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C2F1E5-4E19-4589-BCC4-E069A6A2B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4099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서버 이력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590792-2C48-4464-AAEA-0883499C5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9570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수신된 스냅샷을 시간축으로 축적해 HMI와 서버 연동을 검증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8F4B53-A3D7-4C85-92F9-5251AAC67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324350"/>
            <a:ext cx="3143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7CC5C1-5108-48F6-AFEE-77ACDC856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324350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E14DBC-10F7-403B-8A3B-A082F3EAC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767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조회 전용 설계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80F9D0-BE7C-4AED-8FC2-1AD4101E5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76250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운전 제어는 WPF가 담당하고 웹은 원격 모니터링에 집중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C9A64B-C4A0-4B34-8D35-216B357F1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Etch Load Lock HMI 결과 보고서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CC4D8A-A516-4AA8-BD92-2D7C5D869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7225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0520491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6912A5-7F41-4D5E-94F7-8F5AFE77D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88120C-9D73-4B9A-9BA3-CAF589296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모듈 상태와 레시피 가시화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2414C5-E97C-4895-91E7-80FECE95D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7810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장비 내부 상태와 현재 공정 순서를 API로 분리해 검증 가능하게 구성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1A2702-3DE3-4F67-88D2-04226D4BE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33CCD4-4C54-49DC-B8AE-229CDA3B4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457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모듈 상태 API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d4330dec03475e"/>
          <a:srcRect xmlns:a="http://schemas.openxmlformats.org/drawingml/2006/main" l="893" t="0" r="89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752600"/>
            <a:ext cx="5238750" cy="3333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6D1B4C-BA07-4B42-911F-0595B34B8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381125"/>
            <a:ext cx="457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활성 레시피 API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481483600c4ee4"/>
          <a:srcRect xmlns:a="http://schemas.openxmlformats.org/drawingml/2006/main" l="893" t="0" r="89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43650" y="1752600"/>
            <a:ext cx="5238750" cy="33337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4967A3-DD76-41D5-874E-85878BCA8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29250"/>
            <a:ext cx="3143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6B39B4-E02C-4760-886E-93A25F266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00700"/>
            <a:ext cx="2724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PM/BM/LP 상태를 독립 조회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4902FD-5E04-454F-8318-BB2100314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429250"/>
            <a:ext cx="3143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4"/>
          </a:solidFill>
          <a:ln xmlns:a="http://schemas.openxmlformats.org/drawingml/2006/main" w="9525">
            <a:solidFill>
              <a:srgbClr val="BBF7D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FCCF71-115B-4F7E-9E57-F2575D8E3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5600700"/>
            <a:ext cx="2724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803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5803D"/>
                </a:solidFill>
                <a:latin typeface="Aptos"/>
                <a:ea typeface="Aptos"/>
                <a:cs typeface="Aptos"/>
              </a:rPr>
              <a:t>현재 step과 대기 step 구분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F58E25-87CF-48A9-BB7D-651575341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429250"/>
            <a:ext cx="3143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ED7A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A6C9A0-02EF-42AD-8BCB-D6B8110A2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600700"/>
            <a:ext cx="2724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2410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2410C"/>
                </a:solidFill>
                <a:latin typeface="Aptos"/>
                <a:ea typeface="Aptos"/>
                <a:cs typeface="Aptos"/>
              </a:rPr>
              <a:t>발표 중 API 연동 증거로 활용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E8AAA5-7CA0-4AD1-9F94-90AF4234E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Etch Load Lock HMI 결과 보고서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9B5D53-C29F-47AA-9E88-D05B85527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7225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5205607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7D9CB41-586F-459E-A5F8-24A89B648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D29D07-4EA0-4E4D-AEF2-6FBDAAA5A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AI 진단 구조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C4FF60-DA01-4323-877A-E1A2B9A0F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7810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센서·모듈 상태를 입력으로 받아 정상/경고/알람 판단과 운영 조언을 제공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EB0712-8BE8-4CBF-8142-08AE2E075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95cf479de548c7"/>
          <a:srcRect xmlns:a="http://schemas.openxmlformats.org/drawingml/2006/main" l="2762" t="0" r="276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409700"/>
            <a:ext cx="6191250" cy="4095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AF31A5-F082-41A9-86BF-934A649E3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466850"/>
            <a:ext cx="3619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추론 파이프라인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8C0A1E-5828-4F64-AF2F-73AE31B87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0383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CB73E8-EEBD-40DA-8A5E-99D2C954A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11455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AB371C-02E2-4244-AAF2-7849CAD14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85975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WPF 센서/모듈 데이터 수집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363653-58EE-48A1-82F4-B678E0821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5622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33900B-E63E-48F3-B87E-6F549D16A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638425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691D16-E3FF-4203-AB36-B0559C163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6098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Flask /api/etch/sensor-data 수신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14630C-27A0-46A4-AC48-C73414E12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0861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17E528-03ED-47AD-8A3C-BE8D03F24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6230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3D6965-B6B6-4109-B584-96D7A23AC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133725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sklearn joblib 모델 우선 추론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632FA4-CDCE-4E97-9247-A0BE866C6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6099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FF8F20-606D-4AA8-B1FD-5BA0D528F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686175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296D08-F2D6-429B-BCE4-6413B5689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5760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모델 부재 시 규칙 엔진 fallback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409CD2-59F7-4D8B-939D-821B0EA03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1338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225C19-2E56-45A0-AF25-5A6B30234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21005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356F3C-8848-4A1D-805F-B8E9FD211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181475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대시보드와 WPF AI 패널에 조언 표시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52280A-16AC-4A1B-890F-322C8935A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53000"/>
            <a:ext cx="36385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4"/>
          </a:solidFill>
          <a:ln xmlns:a="http://schemas.openxmlformats.org/drawingml/2006/main" w="9525">
            <a:solidFill>
              <a:srgbClr val="86EFA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21FF7D-F640-4C28-B501-CDE2A3E6A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124450"/>
            <a:ext cx="3219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653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6534"/>
                </a:solidFill>
                <a:latin typeface="Aptos"/>
                <a:ea typeface="Aptos"/>
                <a:cs typeface="Aptos"/>
              </a:rPr>
              <a:t>발표 포인트: AI가 장비를 직접 제어하지 않고, 운영자 판단을 돕는 조언으로만 표시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8552F1-F084-42F7-A0F1-26C056072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388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367191-AAF1-4EBB-AD02-7707868B0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91200"/>
            <a:ext cx="952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모델 파일: models/etch/*.joblib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841321-7506-4808-B568-9B2C1829B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674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2E897B-64D2-4F36-9D52-56B2A0CBD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019800"/>
            <a:ext cx="952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학습 데이터: WPF JSONL snapshot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7CEA3F5-45B3-4DF8-9495-FF30639E6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960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2C9485E-DC91-4B3D-8D40-FBEEB09D8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248400"/>
            <a:ext cx="952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검증 방식: Flask AI status/latest API 화면 캡처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11FC809-6987-400D-9C9C-1012DB08F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Etch Load Lock HMI 결과 보고서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4086AEA-9FAE-48AF-9925-C66E95DDA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7225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75145835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DA527F0-7CFB-455A-9DBF-15BB41331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CA0719-6172-4320-99DE-786664E11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결과 요약 및 향후 보완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3351C8-2F23-44BF-BB65-57FADF513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7810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핵심 데모 흐름은 구현 완료, 실장비 검증과 UX 다듬기가 다음 단계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B948AD-4ADC-4DE7-9937-89768EA27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9DF516-0EA3-4629-94F2-BA10028FD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85900"/>
            <a:ext cx="10363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0D7259-2CF2-4DA3-A29C-479632A20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287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영역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1559BC-BD11-4D8B-AD75-3C1661E70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628775"/>
            <a:ext cx="3714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완료 결과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F77680-135B-431F-84E6-0D5EBD984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628775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보완 방향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22C122-B5C8-46D5-935E-E15D99299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526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WPF HMI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18ECFC-28C9-439A-B7CD-8852C0C83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152650"/>
            <a:ext cx="371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로그인, 장비 도식, 인터락, 램프/제어 버튼, 이력 창 구성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FC8449-BBC4-43A3-9F97-BF8FB042E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1526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메인 화면 분할 최적화와 발표용 자동 시나리오 고도화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9337CB-D9EB-43AE-AD5C-636A5914F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765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4D2D54-B26D-4EAD-83B2-5FCD5FBF1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241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Flask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E8C2D3-BACD-4672-93ED-F752FEDD8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724150"/>
            <a:ext cx="371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실시간/이력/이벤트/모듈/레시피/AI 탭 구현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0C5185-1305-4E4F-9972-7B323AC2A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7241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서버 이력 차트 데이터 밀도와 장애 fallback 메시지 보강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F2DD42-31F9-4956-990F-E175CD67B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480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D86B50-4C5A-474C-A458-317B4CAB7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956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2A0C30-2EED-4A56-ABFD-ADEA45D0A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295650"/>
            <a:ext cx="371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sklearn 모델 로드와 규칙 fallback, latest/status API 제공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A26345-4413-4B52-ACB3-6A0CE9D32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2956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실제 장비 데이터 수집 후 재학습 및 정확도 평가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DE70A4-CDE0-49C9-ACFB-D9DD0EB59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195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E854D3-B82F-4CD0-AF87-03FB99750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데이터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C8A06A-0C32-4EC4-A851-61C89D13A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867150"/>
            <a:ext cx="371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SQLite 이벤트/알람 이력과 JSONL 학습 데이터 흐름 마련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9C417D-7941-4B6A-B1F8-029E9349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8671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운영 로그 보존 정책과 데이터 정합성 검증 자동화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56C609-373B-48C0-89B0-107B5C5B8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910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C29AFF-9BB5-427B-8F72-FACF9D2A4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386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실장비 연동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794855-ACB7-4429-BBA7-E22377AAA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438650"/>
            <a:ext cx="371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TwinCAT 없이도 데모 가능한 시뮬레이션 흐름 확보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01CB40C-03DA-4A9F-9507-9F0941D63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4386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EtherCAT 현장 연결, 인터락 임계값, DO 출력 검증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E629028-8AB6-4DC9-9DD6-1FA053D86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625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d42464e0364c04"/>
          <a:srcRect xmlns:a="http://schemas.openxmlformats.org/drawingml/2006/main" l="0" t="16400" r="0" b="164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4850" y="5219700"/>
            <a:ext cx="2381250" cy="1000125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B4B30D2-0E9B-4491-88E5-33E127930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391150"/>
            <a:ext cx="7429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최종 산출물은 발표에서 바로 보여줄 수 있는 실제 실행 화면 중심으로 구성했습니다. WPF는 제어/운전, Flask는 원격 조회, AI는 조언 레이어라는 역할 분리가 명확합니다.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5B8555B-DCF4-4C8B-A660-05715E34A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Etch Load Lock HMI 결과 보고서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4C68A3D-3234-4812-AF16-497F49AD6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7225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662284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2026-06-11T23:10:37.2600000Z</dcterms:created>
  <dcterms:modified xsi:type="dcterms:W3CDTF">2026-06-11T23:10:37.2600000Z</dcterms:modified>
</coreProperties>
</file>