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6b097df07b491f" /><Relationship Type="http://schemas.openxmlformats.org/officeDocument/2006/relationships/extended-properties" Target="/docProps/app.xml" Id="Rffef08ef8ae74aa5" /><Relationship Type="http://schemas.openxmlformats.org/officeDocument/2006/relationships/officeDocument" Target="/ppt/presentation.xml" Id="Ra814140048cb46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34ac496d9a4ce4"/>
  </p:sldMasterIdLst>
  <p:notesMasterIdLst>
    <p:notesMasterId xmlns:r="http://schemas.openxmlformats.org/officeDocument/2006/relationships" r:id="R6587e887d5714f19"/>
  </p:notesMasterIdLst>
  <p:sldIdLst>
    <p:sldId xmlns:r="http://schemas.openxmlformats.org/officeDocument/2006/relationships" id="256" r:id="R923d58d75743445d"/>
    <p:sldId xmlns:r="http://schemas.openxmlformats.org/officeDocument/2006/relationships" id="257" r:id="Rf158c5b622e14b52"/>
    <p:sldId xmlns:r="http://schemas.openxmlformats.org/officeDocument/2006/relationships" id="258" r:id="Re0b204a1cda94529"/>
    <p:sldId xmlns:r="http://schemas.openxmlformats.org/officeDocument/2006/relationships" id="259" r:id="R19d3091072324208"/>
    <p:sldId xmlns:r="http://schemas.openxmlformats.org/officeDocument/2006/relationships" id="260" r:id="R25b7355b42214a02"/>
    <p:sldId xmlns:r="http://schemas.openxmlformats.org/officeDocument/2006/relationships" id="261" r:id="R8e9d1994c4bd4b08"/>
    <p:sldId xmlns:r="http://schemas.openxmlformats.org/officeDocument/2006/relationships" id="262" r:id="Ra5246b90d44e4176"/>
    <p:sldId xmlns:r="http://schemas.openxmlformats.org/officeDocument/2006/relationships" id="263" r:id="Rac8786be5f9d47af"/>
    <p:sldId xmlns:r="http://schemas.openxmlformats.org/officeDocument/2006/relationships" id="264" r:id="R23a1453af31e4b2b"/>
    <p:sldId xmlns:r="http://schemas.openxmlformats.org/officeDocument/2006/relationships" id="265" r:id="R2e125fb0349a44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28a5a163c84074" /><Relationship Type="http://schemas.openxmlformats.org/officeDocument/2006/relationships/slideMaster" Target="/ppt/slideMasters/slideMaster1.xml" Id="R5734ac496d9a4ce4" /><Relationship Type="http://schemas.openxmlformats.org/officeDocument/2006/relationships/notesMaster" Target="/ppt/notesMasters/notesMaster1.xml" Id="R6587e887d5714f19" /><Relationship Type="http://schemas.openxmlformats.org/officeDocument/2006/relationships/presProps" Target="/ppt/presProps.xml" Id="R0bded6d10a5f4b69" /><Relationship Type="http://schemas.openxmlformats.org/officeDocument/2006/relationships/viewProps" Target="/ppt/viewProps.xml" Id="R0f2bb23ea6ff4317" /><Relationship Type="http://schemas.openxmlformats.org/officeDocument/2006/relationships/tableStyles" Target="/ppt/tableStyles.xml" Id="Rc38c87ff4a0441e2" /><Relationship Type="http://schemas.openxmlformats.org/officeDocument/2006/relationships/slide" Target="/ppt/slides/slide1.xml" Id="R923d58d75743445d" /><Relationship Type="http://schemas.openxmlformats.org/officeDocument/2006/relationships/slide" Target="/ppt/slides/slide2.xml" Id="Rf158c5b622e14b52" /><Relationship Type="http://schemas.openxmlformats.org/officeDocument/2006/relationships/slide" Target="/ppt/slides/slide3.xml" Id="Re0b204a1cda94529" /><Relationship Type="http://schemas.openxmlformats.org/officeDocument/2006/relationships/slide" Target="/ppt/slides/slide4.xml" Id="R19d3091072324208" /><Relationship Type="http://schemas.openxmlformats.org/officeDocument/2006/relationships/slide" Target="/ppt/slides/slide5.xml" Id="R25b7355b42214a02" /><Relationship Type="http://schemas.openxmlformats.org/officeDocument/2006/relationships/slide" Target="/ppt/slides/slide6.xml" Id="R8e9d1994c4bd4b08" /><Relationship Type="http://schemas.openxmlformats.org/officeDocument/2006/relationships/slide" Target="/ppt/slides/slide7.xml" Id="Ra5246b90d44e4176" /><Relationship Type="http://schemas.openxmlformats.org/officeDocument/2006/relationships/slide" Target="/ppt/slides/slide8.xml" Id="Rac8786be5f9d47af" /><Relationship Type="http://schemas.openxmlformats.org/officeDocument/2006/relationships/slide" Target="/ppt/slides/slide9.xml" Id="R23a1453af31e4b2b" /><Relationship Type="http://schemas.openxmlformats.org/officeDocument/2006/relationships/slide" Target="/ppt/slides/slide10.xml" Id="R2e125fb0349a44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76bc1988e74d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ea92f8368a4d5f" /><Relationship Type="http://schemas.openxmlformats.org/officeDocument/2006/relationships/notesMaster" Target="/ppt/notesMasters/notesMaster1.xml" Id="R3ddbbdff85364a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70b0a9a05a467b" /><Relationship Type="http://schemas.openxmlformats.org/officeDocument/2006/relationships/notesMaster" Target="/ppt/notesMasters/notesMaster1.xml" Id="Ra92ad8c3500a41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e6025f7b40493a" /><Relationship Type="http://schemas.openxmlformats.org/officeDocument/2006/relationships/notesMaster" Target="/ppt/notesMasters/notesMaster1.xml" Id="R939b1cf3ac5841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c0f89b367b4591" /><Relationship Type="http://schemas.openxmlformats.org/officeDocument/2006/relationships/notesMaster" Target="/ppt/notesMasters/notesMaster1.xml" Id="R2deb8a8b8d6845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1b72823ec842df" /><Relationship Type="http://schemas.openxmlformats.org/officeDocument/2006/relationships/notesMaster" Target="/ppt/notesMasters/notesMaster1.xml" Id="R8bb3fdbf7d134b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b977e0023f479f" /><Relationship Type="http://schemas.openxmlformats.org/officeDocument/2006/relationships/notesMaster" Target="/ppt/notesMasters/notesMaster1.xml" Id="R32a6ef5b8ffa42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504c0bb64c4778" /><Relationship Type="http://schemas.openxmlformats.org/officeDocument/2006/relationships/notesMaster" Target="/ppt/notesMasters/notesMaster1.xml" Id="R310e56fa5a9d44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14655214f74614" /><Relationship Type="http://schemas.openxmlformats.org/officeDocument/2006/relationships/notesMaster" Target="/ppt/notesMasters/notesMaster1.xml" Id="Rc9bd3284b48d43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50bad7053f4d1c" /><Relationship Type="http://schemas.openxmlformats.org/officeDocument/2006/relationships/notesMaster" Target="/ppt/notesMasters/notesMaster1.xml" Id="Re7935c298b8640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ce0b59fd574583" /><Relationship Type="http://schemas.openxmlformats.org/officeDocument/2006/relationships/notesMaster" Target="/ppt/notesMasters/notesMaster1.xml" Id="R4ad4801ae4af4c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43dab0ce24a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a33fc8c5e3496c" /><Relationship Type="http://schemas.openxmlformats.org/officeDocument/2006/relationships/slideLayout" Target="/ppt/slideLayouts/slideLayout1.xml" Id="R4fe0ca1f230e4b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e0ca1f230e4b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7fb64ad7f4780" /><Relationship Type="http://schemas.openxmlformats.org/officeDocument/2006/relationships/image" Target="/ppt/media/image.png" Id="R071fab02f1684c0b" /><Relationship Type="http://schemas.openxmlformats.org/officeDocument/2006/relationships/image" Target="/ppt/media/image2.png" Id="R2375dd1d29474c33" /><Relationship Type="http://schemas.openxmlformats.org/officeDocument/2006/relationships/image" Target="/ppt/media/image3.png" Id="R05d84a8343bb48c6" /><Relationship Type="http://schemas.openxmlformats.org/officeDocument/2006/relationships/notesSlide" Target="/ppt/notesSlides/notesSlide1.xml" Id="R17e6d5cabbf84e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dc81ddbf04b49" /><Relationship Type="http://schemas.openxmlformats.org/officeDocument/2006/relationships/notesSlide" Target="/ppt/notesSlides/notesSlide2.xml" Id="R4697eab6d27440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2a3e2323d42c8" /><Relationship Type="http://schemas.openxmlformats.org/officeDocument/2006/relationships/notesSlide" Target="/ppt/notesSlides/notesSlide3.xml" Id="R360fb484561b46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5bb9d31f44982" /><Relationship Type="http://schemas.openxmlformats.org/officeDocument/2006/relationships/image" Target="/ppt/media/image4.png" Id="R491a077227c54bec" /><Relationship Type="http://schemas.openxmlformats.org/officeDocument/2006/relationships/notesSlide" Target="/ppt/notesSlides/notesSlide4.xml" Id="R4bda64068b7d47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54a32f0d34ed7" /><Relationship Type="http://schemas.openxmlformats.org/officeDocument/2006/relationships/image" Target="/ppt/media/image5.png" Id="R29a67a3bfdb346a0" /><Relationship Type="http://schemas.openxmlformats.org/officeDocument/2006/relationships/notesSlide" Target="/ppt/notesSlides/notesSlide5.xml" Id="R6e08229e3dc94d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2a8d400904393" /><Relationship Type="http://schemas.openxmlformats.org/officeDocument/2006/relationships/image" Target="/ppt/media/image6.png" Id="R6ecd496213d24fb0" /><Relationship Type="http://schemas.openxmlformats.org/officeDocument/2006/relationships/image" Target="/ppt/media/image7.png" Id="R135fff15647c4f15" /><Relationship Type="http://schemas.openxmlformats.org/officeDocument/2006/relationships/notesSlide" Target="/ppt/notesSlides/notesSlide6.xml" Id="R7a58a7269c2343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7287594a6442e" /><Relationship Type="http://schemas.openxmlformats.org/officeDocument/2006/relationships/image" Target="/ppt/media/image8.png" Id="Rf6a32bbffea84e9b" /><Relationship Type="http://schemas.openxmlformats.org/officeDocument/2006/relationships/notesSlide" Target="/ppt/notesSlides/notesSlide7.xml" Id="Ree357dc4557a43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0f37e62744d11" /><Relationship Type="http://schemas.openxmlformats.org/officeDocument/2006/relationships/image" Target="/ppt/media/image9.png" Id="Rd43e28b62b8a4cbc" /><Relationship Type="http://schemas.openxmlformats.org/officeDocument/2006/relationships/image" Target="/ppt/media/image10.png" Id="R0aaa9bf12b734c6b" /><Relationship Type="http://schemas.openxmlformats.org/officeDocument/2006/relationships/notesSlide" Target="/ppt/notesSlides/notesSlide8.xml" Id="R2dcf051a84c94e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177d5d67d47ea" /><Relationship Type="http://schemas.openxmlformats.org/officeDocument/2006/relationships/notesSlide" Target="/ppt/notesSlides/notesSlide9.xml" Id="R667d868a30514e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16c442e4e4e9f" /><Relationship Type="http://schemas.openxmlformats.org/officeDocument/2006/relationships/image" Target="/ppt/media/image11.png" Id="Rfe02566830564647" /><Relationship Type="http://schemas.openxmlformats.org/officeDocument/2006/relationships/image" Target="/ppt/media/image12.png" Id="Rc33b2023d01e4cc6" /><Relationship Type="http://schemas.openxmlformats.org/officeDocument/2006/relationships/image" Target="/ppt/media/image13.png" Id="R39d388664022450d" /><Relationship Type="http://schemas.openxmlformats.org/officeDocument/2006/relationships/notesSlide" Target="/ppt/notesSlides/notesSlide10.xml" Id="Rab50e236704f437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80E3D3-05DB-40CA-9D4E-91E3DA3A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9A1D5-BD16-4733-A25B-0998DD7D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프로젝트 결과 보고서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089BFF-49D1-47E0-A1C6-47FB1FE3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7429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플라즈마 식각 장비</a:t>
            </a:r>
          </a:p>
          <a:p xmlns:a="http://schemas.openxmlformats.org/drawingml/2006/main">
            <a:pPr algn="l">
              <a:defRPr sz="33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Load Lock HMI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06D6A-108E-44C6-8651-3A481346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14550"/>
            <a:ext cx="628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WPF 기반 장비 제어 화면과 Flask 원격 모니터링, AI 진단 API를 연동한 반도체 식각 공정 데모 시스템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2796A-0BC0-4CEC-9B96-34030DEE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2E68B1-2ECF-4588-8DC7-9A37ED1C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WPF HMI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A55414-26A3-4521-A876-747374DA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337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96530-55BB-4BFA-BF9E-E5BE952B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9908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Flask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2D515-673C-4F11-AAF1-81FDB950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3370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91D591-C6BF-45C0-BFBC-5F35011C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9085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진단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87F8A-704C-4449-B910-39BC1758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33700"/>
            <a:ext cx="1285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02A3D-6D89-4C6F-A070-5CB1658E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90850"/>
            <a:ext cx="10953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SQLite 이력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fab02f1684c0b"/>
          <a:srcRect xmlns:a="http://schemas.openxmlformats.org/drawingml/2006/main" l="0" t="85" r="0" b="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685800"/>
            <a:ext cx="4953000" cy="27813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5dd1d29474c33"/>
          <a:srcRect xmlns:a="http://schemas.openxmlformats.org/drawingml/2006/main" l="1172" t="0" r="11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3676650"/>
            <a:ext cx="238125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84a8343bb48c6"/>
          <a:srcRect xmlns:a="http://schemas.openxmlformats.org/drawingml/2006/main" l="1172" t="0" r="11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0" y="3676650"/>
            <a:ext cx="2381250" cy="1524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CE6D44-341C-4676-ADF6-86535C19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B08542-8E4B-4CA9-8D21-5C54057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742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핵심 산출물: 장비 상태 UI, 가상 TM 이송 도식, 원격 모니터링 대시보드, 모듈/레시피 API, sklearn 기반 AI 진단 흐름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9C45DB-D6CF-4200-9331-6F11A61B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05790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2026.06</a:t>
            </a:r>
          </a:p>
        </p:txBody>
      </p:sp>
    </p:spTree>
    <p:extLst>
      <p:ext uri="{BB962C8B-B14F-4D97-AF65-F5344CB8AC3E}">
        <p14:creationId xmlns:p14="http://schemas.microsoft.com/office/powerpoint/2010/main" val="319436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B70B54-D522-46D7-93F4-FC45A39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5882B-F742-4412-87F4-5F03F429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프로젝트 목표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E2100-B830-4206-BEE8-F40C6A4C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장비 제어 화면과 원격 모니터링을 분리해 데모 안정성과 관찰성을 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334E5-5A18-4800-A9F7-27683155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EE696-B31C-47F0-82A7-666039EC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D23BA-7F29-4292-98D8-DF647083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5F308-8EF5-4B88-97A0-6409B37E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문제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21D6EE-CA22-4179-9FCF-4294CB71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실장비가 없어도 Load Lock, 챔버, 센서, 버튼/램프 상태를 발표에서 설득력 있게 보여줘야 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70327-2915-4A6C-9AA6-10B1F893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5240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EE7E2-490F-4C5A-96DB-022F7F4A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52400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BFE273-606F-4ED6-B8E6-AA676ECB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접근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A9FF5-50AE-40FB-9204-C5849919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621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WPF는 운전/제어와 가상 TM 시각화를 담당하고, Flask는 원격 조회와 이력·AI API를 담당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388D1C-4F07-4145-A16E-B11F0BF1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240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B495C-E64D-4859-A660-4C5C45DA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2400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3AA196-BB77-4A60-842C-25448FC2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76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C12B5A-F986-497A-A95C-AEB223B6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621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단일 PC 데모에서도 HMI 화면, 서버 대시보드, 모듈/레시피/AI 증거 화면을 동시에 제시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1BF31-58E5-4B5E-8296-7B4F0852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19500"/>
            <a:ext cx="4476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구현 범위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352BED-3E0C-4B49-8B5D-DE291063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43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1583F2-6F0A-41E3-B6E5-05291C40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WPF .NET 8 기반 Etch Load Lock HMI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E7FA3-2A40-4435-BF8C-398577B2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86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8FFF12-5995-4D42-A560-CC6E58CF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가상 TM/EFEM/PM 모듈 도식 및 상태 표시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147CE-043A-4C1C-BF87-13CC5D19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291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436EEC-6C9D-48D9-9CDC-BB013292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815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Flask 원격 모니터링 대시보드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5A4C26-B4F2-4755-B574-581E58A7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72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5649B1-E777-4FA8-8A72-01777655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244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모듈 상태, 활성 레시피, 이벤트, 센서 이력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5D434F-9EFE-485B-9041-5F9A480D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149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AADE3D-04A9-4A18-BDE6-235F54C1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67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sklearn 모델 + 규칙 fallback 구조의 AI 진단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D46D90-3FD1-474E-A1A4-ABD726DE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57600"/>
            <a:ext cx="4953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B18EE1-CF7E-4DE4-B9A9-3F0BFAC1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6240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12E8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12E81"/>
                </a:solidFill>
                <a:latin typeface="Aptos"/>
                <a:ea typeface="Aptos"/>
                <a:cs typeface="Aptos"/>
              </a:rPr>
              <a:t>발표에서 보여줄 수 있는 가치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ED2E6A-34FB-474D-A317-D19E5399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05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36DFAA-D7F8-4AD9-B3BC-03A53857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577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장비 상태를 한 화면에서 스캔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3F3088-48CD-45EE-AFC5-5BEF6A0A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00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7380FE-C904-4CFA-B3AF-ABF50510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52975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WPF와 웹 대시보드 연동 증명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A82CAF-C4C4-483E-9DB1-6F74B87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958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355E0B-6B5A-45FC-AB00-1D1E3B23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482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센서 이상·인터락 상태 판단 흐름 설명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9E3715-0B1D-44C9-B862-0C99742E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2B3026-1B3F-4FFD-B6E3-0A6FFB83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343525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향후 실장비/TwinCAT 연결 확장 경로 제시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BD7187-4EE9-4C64-9ECB-B8BE7D60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A3C32E-485A-4890-B2D1-F3CC75AD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1586875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B9F0CA-8A03-4FFF-BCD5-32DB4D2B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0FE4A-EED4-4334-95B9-DD93A975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시스템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2C7D0-7538-4212-A985-80862101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장비 신호, HMI 제어, 서버 모니터링, AI 진단을 느슨하게 결합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82CDE-7936-42DC-8A4D-E5DDBF6C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39C6C-41BD-4197-ABE8-95473F55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B7BCE-FB18-4F03-886E-DCC57205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145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실장비 / 시뮬레이터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2B73F-D0EB-422E-A2D4-449DBCB1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9325"/>
            <a:ext cx="2038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압력, 진동, 온습도, Load Lock 접촉, 버튼 DI, 램프 DO를 실제 또는 데모 데이터로 공급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A328E6-140A-4A21-9683-B74422F0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62125"/>
            <a:ext cx="2762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4288">
            <a:solidFill>
              <a:srgbClr val="93C5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691D7-F03A-4792-A0DB-8955672E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14525"/>
            <a:ext cx="2419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WPF HMI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E83369-45A7-4C27-AF8E-62D7CA69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19325"/>
            <a:ext cx="2419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운전 버튼, 인터락 판단, 가상 TM 이송 도식, 이벤트/알람 이력, AI 조언 패널 제공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A7C62-EDE7-4053-9A52-135A9EA7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62125"/>
            <a:ext cx="2762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EFF"/>
          </a:solidFill>
          <a:ln xmlns:a="http://schemas.openxmlformats.org/drawingml/2006/main" w="14288">
            <a:solidFill>
              <a:srgbClr val="67E8F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82F737-D837-4096-87AB-F7A6158D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14525"/>
            <a:ext cx="2419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Monitoring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7F8AF9-57AA-477A-B010-DC57B9D0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19325"/>
            <a:ext cx="2419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브라우저에서 센서, 서버 이력, 이벤트, 모듈 상태, 레시피, AI 진단을 조회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F26E6-87CB-48EA-9E8E-A89AA66D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95550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C89E4-4798-424B-8FAD-9AA2E079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2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820ED-7711-4209-8FD8-787599BC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479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ADS/Simulation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663B4F-2146-4CFB-9A1E-DA0A26B9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95550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7ED1ED-25E9-4D83-9E46-4358F859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BDBA57-FC54-45DF-881B-04A1834A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REST JSON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A02388-E0E1-4A13-8A44-76579E53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2910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14288">
            <a:solidFill>
              <a:srgbClr val="C4B5F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4F044-183A-4E54-88C4-EA04ED4C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3815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SQLite / JSONL 이력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F24097-06DC-4267-8CEA-9EB44608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86300"/>
            <a:ext cx="2514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운전 로그, 알람, 이벤트, AI 학습 스냅샷을 저장해 재현 가능한 데모와 재학습 기반 마련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B1697E-113C-48C6-9B6F-A25DEFC9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2910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4"/>
          </a:solidFill>
          <a:ln xmlns:a="http://schemas.openxmlformats.org/drawingml/2006/main" w="14288">
            <a:solidFill>
              <a:srgbClr val="86EFA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A2D8EE-911A-4141-BB92-CA253382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815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진단 엔진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9E3148-E009-4D2C-A2E4-0A338F87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86300"/>
            <a:ext cx="2514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joblib 모델이 있으면 sklearn 추론을 우선 사용하고, 없으면 규칙 기반 판단으로 fallback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D5875-8304-47EE-93CD-F3DC0F12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10125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8D285-340E-425A-9D40-3F12B0E7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학습/추론 데이터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56DEDE-BB4C-4A86-97DC-E2C37516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45318E-3624-4ACB-AF98-B16238A7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20298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A59C43-E9BD-46AE-BAB6-EAC5AC0B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CA2FF-4FA6-4E4C-B96C-403F80EC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WPF HMI 구현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C72AC-DB03-4E94-8290-2A3DB8D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실제 실행 캡처: 장비 도식, 인터락, 램프/공정 조작, 관리자 기능을 한 화면에 배치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3B9A3-667B-4777-8D40-5BAAB69E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a077227c54bec"/>
          <a:srcRect xmlns:a="http://schemas.openxmlformats.org/drawingml/2006/main" l="5000" t="0" r="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409700"/>
            <a:ext cx="7620000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CAE7B-68AD-42AB-90C2-C1440282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4780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B99BD-190C-4049-A6B4-DFC8B866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47800"/>
            <a:ext cx="476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7D1FE-E1D1-47A5-9754-3B03D7C6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002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장비 상태 도식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9169D3-54F4-4D53-A3C9-C7EDE6EC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8595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LP/EFEM/Aligner/BM/PM 챔버의 가상 이송 흐름과 모듈 상태를 시각적으로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9435B-7927-4AB4-8E16-A07066C6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241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5E14E-DB00-4C7D-A960-1A098E27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24150"/>
            <a:ext cx="476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191AAE-45A7-466E-B5CF-C4B35566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인터락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273030-9FFC-43FF-994B-12FD41D8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압력, 진동, 온습도, 접촉 상태를 appsettings 기준으로 표시해 데모 판단 근거를 제공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DBF83-0DEF-4655-85EE-B43965AA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0050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6B5A7-C2BC-4F99-B20A-A4269F2A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00500"/>
            <a:ext cx="476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5E03D-812F-4C5A-81BF-8135DAD6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1529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운전 제어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448FC8-FE68-4C58-B5FC-2ED5E68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43865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Start/Stop/Alarm Reset/Maintenance 버튼과 램프 상태를 운영자 화면에 고정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348F87-1998-488C-B4A4-87E22769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768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C4CF5-7934-4365-A959-AD6B947D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768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2471C-B1E9-4637-B881-8FD139F9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292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보안/이력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C69393-CB10-4034-AB2D-FE85EACA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7150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관리자 로그인, 사용자 관리, 이벤트 로그, 알람 이력을 별도 창으로 분리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402CF9-0E5A-431B-9186-5E22B413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EDC1F1-4C8B-4C96-9833-6A6F1D09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2238997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A6B1D8-582B-4AB9-845D-FE84EB9D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D8BAD7-5BF1-4B90-BB9B-AB7FCFBB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원격 모니터링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07606-E36E-4747-A433-DBC1C68F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WPF가 보낸 텔레메트리를 브라우저에서 조회하는 별도 관찰 화면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8ECA3-9CCD-4526-B5FA-FE64AEAC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67a3bfdb346a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28750"/>
            <a:ext cx="7239000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401EA-3EFB-4BE2-9C95-5E7FA91A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240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웹 대시보드는 발표 중 관찰자 화면 역할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81B1D-8AF1-4A91-B152-4DC1FACB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6C933A-5F3E-414D-856F-99F887B9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32D6A-7E40-42EF-8A00-F64010B8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431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센서 현황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E1784A-A0C5-4CAC-933D-710DE489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289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압력, 진동, 온도, 습도, 도어 상태를 카드와 이력 표로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1662E-9EF8-4B46-8560-D964B1C3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25076-5F53-4323-964E-F60AB1CC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CB4DE-41B1-49FC-92A3-ECB35166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서버 이력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BE2ED-0CAC-4856-BAA1-E30A6242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957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수신된 스냅샷을 시간축으로 축적해 HMI와 서버 연동을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8DFF2-5FFA-4B16-9968-22D4F6D9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243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D22200-3236-4633-A022-5842231E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243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33A502-2D5C-4142-A42C-4E244AA0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조회 전용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686F81-32A2-420F-9969-FA1D8015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625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운전 제어는 WPF가 담당하고 웹은 원격 모니터링에 집중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5C134-3041-4078-A750-FE696656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A55397-6E94-40C5-ADDF-5CD4B5A8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1262329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291C87-C94E-4F67-99BE-1A49DE5F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E43F8-A989-426E-B358-528454A8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모듈 상태와 레시피 가시화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9ED80-3B9B-431D-8957-0D70B202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장비 내부 상태와 현재 공정 순서를 API로 분리해 검증 가능하게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40167-4F06-4006-93D4-60966831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BF6E5C-0879-423A-A9FF-781CE3D7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57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모듈 상태 API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d496213d24fb0"/>
          <a:srcRect xmlns:a="http://schemas.openxmlformats.org/drawingml/2006/main" l="893" t="0" r="89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752600"/>
            <a:ext cx="5238750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37125F-612E-4F8E-8DEC-51EE9F1F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381125"/>
            <a:ext cx="457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활성 레시피 API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fff15647c4f15"/>
          <a:srcRect xmlns:a="http://schemas.openxmlformats.org/drawingml/2006/main" l="893" t="0" r="89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752600"/>
            <a:ext cx="5238750" cy="3333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3A69DE-1C68-4C0C-A64E-EEA594B4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75792-7A22-4971-9396-AFF4100B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007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PM/BM/LP 상태를 독립 조회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A5A643-2917-4CE6-896A-4337A7DC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292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DE3D8-F9BF-442F-84BB-F52B0722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007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현재 step과 대기 step 구분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949D3-1682-45D1-9FA8-E6DCBD71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292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948A0-DF17-4349-92A6-E4104748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60070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발표 중 API 연동 증거로 활용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0A0375-79E5-4ADA-9C56-6BC5DD9B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1AEE0F-4C23-4671-859C-5AA0277B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213707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D5D8EF-5787-4F9D-8B4A-6CBD33DA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F55417-6C53-4F32-B469-B4877796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진단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1DAE3-A6E1-4A03-BDF0-D4C4E9D6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센서·모듈 상태를 입력으로 받아 정상/경고/알람 판단과 운영 조언을 제공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2750A-FD94-4415-A5A6-CBEB2BFC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a32bbffea84e9b"/>
          <a:srcRect xmlns:a="http://schemas.openxmlformats.org/drawingml/2006/main" l="2762" t="0" r="276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409700"/>
            <a:ext cx="619125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C1013-4879-4D8A-AEA5-6D98E811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668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추론 파이프라인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26204-6F7E-47BB-88E6-290725D6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38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496AD0-CB2A-40B7-80BC-14D4A24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145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419760-6DB9-4644-B86E-006C2201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WPF 센서/모듈 데이터 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5FD18-36CE-4DE0-A887-B1FF62FC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622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D1CFD-1710-4B52-8666-CBFF28A1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8A8A44-E237-4FDC-8B40-E05362CD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098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Flask /api/etch/sensor-data 수신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044490-5D76-447B-A392-F16FEACA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C9453-7D2B-4239-A85D-099308DA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6230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C931-1A5F-4061-AFE9-7EA202B0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33725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sklearn joblib 모델 우선 추론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C14AE-35C9-4942-9534-8A6B8EF5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3C842-0353-464D-A0B3-4120F87E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8617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671544-24C2-4A56-BF66-85B0FFBD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모델 부재 시 규칙 엔진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CB72F9-BE0F-470E-A6F7-413C0ADC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338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00CC75-1DC6-4A19-8E4F-7ED5DB97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1F0481-A041-465D-9524-9E95D3C1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181475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대시보드와 WPF AI 패널에 조언 표시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41496A-637E-4654-B873-0F8E737F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3638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31B8E3-3BE2-454A-BE5C-6135538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65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6534"/>
                </a:solidFill>
                <a:latin typeface="Aptos"/>
                <a:ea typeface="Aptos"/>
                <a:cs typeface="Aptos"/>
              </a:rPr>
              <a:t>발표 포인트: AI가 장비를 직접 제어하지 않고, 운영자 판단을 돕는 조언으로만 표시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60CF19-278D-4DF2-9092-5200A587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38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9C4CCA-38E9-4891-8C0F-A0C28871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9120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모델 파일: models/etch/*.joblib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B3DD4E-95DA-40B9-9CE2-1F956A03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C774F5-10DA-498D-9029-BE22F88C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1980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학습 데이터: WPF JSONL 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0D35D3-E841-4A96-8D15-3B4DB08E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96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E97548-FB85-4EFB-A3DE-0A3EF504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24840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검증 방식: Flask AI status/latest API 화면 캡처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2E2BD1-539A-4B9E-AB45-10950132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F9FB2B-4CF3-49DE-9046-E2BB4B95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9016406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BDDDFF-5F90-4935-8DD5-2E5201FA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3FE02-53AF-427F-9EDA-99B4212C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핵심 화면 확대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C3686-D31B-414E-A4BC-AC80EE25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발표장에서 읽히도록 실제 캡처의 증거 영역을 확대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5F488-15CD-49A4-BC6C-805E3783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FF971-386F-4FD3-AB56-1D006F18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466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WPF 장비 도식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449FC-1E1F-4A5F-BFB6-37375805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04825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e28b62b8a4cbc"/>
          <a:stretch xmlns:a="http://schemas.openxmlformats.org/drawingml/2006/main"/>
        </p:blipFill>
        <p:spPr>
          <a:xfrm xmlns:a="http://schemas.openxmlformats.org/drawingml/2006/main">
            <a:off x="685800" y="2040446"/>
            <a:ext cx="4933950" cy="242468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67D68-C571-4BDB-A19D-FF33CBF9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504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D8737-BE7F-45EE-938E-CDEAAE5D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24450"/>
            <a:ext cx="462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가상 TM, EFEM, PM 챔버와 Blade 상태를 한 영역에서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75118-0927-44E3-9D91-1DA6B96C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90650"/>
            <a:ext cx="466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모듈 상태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04558E-FAD1-4747-8EBE-2810074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504825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a9bf12b734c6b"/>
          <a:stretch xmlns:a="http://schemas.openxmlformats.org/drawingml/2006/main"/>
        </p:blipFill>
        <p:spPr>
          <a:xfrm xmlns:a="http://schemas.openxmlformats.org/drawingml/2006/main">
            <a:off x="6400800" y="2158348"/>
            <a:ext cx="4933950" cy="218888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7FDC0-F9D4-40E6-8542-F294D242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53000"/>
            <a:ext cx="504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756C96-A2E0-4C7E-97ED-000EEBD0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24450"/>
            <a:ext cx="462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LP1, BM1, PM1, PM2 처리 상태가 API 응답으로 화면에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54B6A8-5A24-42F9-88DD-D309C9F4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67400"/>
            <a:ext cx="868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373D73-BA19-41F2-9D5E-F2E8B2ED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962650"/>
            <a:ext cx="811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보강 포인트: 기존 전체 캡처만으로는 글자가 작았기 때문에, 평가자가 바로 읽을 수 있는 증거 영역을 별도 확대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099B0-B73A-47F6-A005-C969380B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18E93-9383-46F6-9814-8174CE1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1656168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FDE72D-87C8-4565-8884-5E901F89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831FB-32D9-4F2F-ABDA-CE2BFC2C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정량 성과와 검증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9E820-8659-436F-A5FF-D48E2623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구현 범위와 확인 결과를 숫자로 정리해 결과 보고서의 설득력 강화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26F9B-3866-44F1-84EB-8E3E33C7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41490-C1CD-4717-9980-5793652E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2CC58-8C82-4275-9F0E-3E004B4E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89C220-2E99-4279-B541-285816FA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C6012-5E95-488E-A919-097A38B2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실행 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7E279-F5C0-4D59-B051-BA2A1FA6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WPF HMI + Flask Dashboard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CCDC0-F1E7-4A85-85EC-C8C4F0FD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287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8D93F-4918-4BD2-92AB-54A54F31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287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F16D6-1AAA-4130-B6EE-52289477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6764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6B6D4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6B6D4"/>
                </a:solidFill>
                <a:latin typeface="Aptos"/>
                <a:ea typeface="Aptos"/>
                <a:cs typeface="Aptos"/>
              </a:rPr>
              <a:t>6+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73CAA-506A-4CCD-B82A-9CB304AB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5740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주요 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E1339C-A8A8-47E4-937A-D602D8F0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86000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sensors, history, events, modules, recipe, 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0BBB6-A1B3-4CA0-B04F-50A274BA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287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D1142-7E92-4EFE-9A71-5D735200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287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F951B-06B9-42AD-81A3-C1B7D31C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764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AD9CAB-3C28-4633-9765-68B832F2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5740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모듈 상태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05A6EA-55AB-472E-A304-01B8FF84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LP/AL/BM/PM/SIDE 화면 표시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8EA51D-73D0-4CE8-9B8D-E0406485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287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C1E39B-3F87-4C4B-A1D6-469D43C7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287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0A33D0-38F5-430A-BCC7-4A894439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87535A-5015-4630-AF08-8BE4FC8C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5740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보고서 슬라이드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3FDFD8-BF05-4880-AE0D-DB0C50B1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86000"/>
            <a:ext cx="2038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증거 확대와 검증표 추가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844E22-9487-4FAC-9C50-EBF7D6F2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0287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E442F0-2FD4-4CC9-B16F-185B7D1D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146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검증 항목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4BD066-52AE-4FD1-ACE8-D2F29240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14675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확인 근거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62C67A-F3BD-4273-874A-297F09C2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상태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6B895B-2660-4E09-929D-2C697D63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WPF 빌드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2C7CFC-031B-4DEB-A422-2F4B9139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766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dotnet build etch_ui.csproj: 경고 0개, 오류 0개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6FB5C-3BB2-4939-A7BD-E10C302B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76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A0D04B-B61D-4A5A-8E0B-3138DEBC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7F1690-41DC-49A2-B70B-51D5EDEA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WPF 실행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31D934-4F07-41A7-A192-01638FF6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admin 로그인 후 실제 메인 화면 캡처 확보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FCB3A5-8873-4542-BCE2-BCBD9220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71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414B08-1209-48D5-9382-D13AE742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6097B7-1FC4-42DD-A1F9-93471715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화면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A48346-6BD7-47EE-BCE7-864C7447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원본 etch_dashboard.html 기반 실시간/모듈/레시피/AI 탭 캡처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A89246-9888-4397-BD78-12BC09D5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672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837BCA-4AB3-48C1-A7F1-DB26E4C3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15353E-C948-4C81-80D6-D047C5D0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진단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CEC2A2-A0BC-4939-8131-5CF5AB61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1625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ML ready, anomaly score 0.18, predicted alarm NONE 예시 표시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22D733-1FC9-4E78-B979-580A391F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1625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2C8394-852A-45CA-B3A3-9153E864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5E70C0-4063-475A-AC87-36E6FB1D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PPTX 구조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7DB32F-0990-4710-83A4-B6A2D842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6578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8장 초안에서 10장으로 보강, PPTX archive 내 slide XML/media 검증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577B1-AD3E-41F7-9AC9-B45E0530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6578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EE7B48-BFFD-4B92-BDAD-D09D3187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269E0E-B98B-4074-9F8C-489DC19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9FB676-DB79-4F78-AD40-BA67BBB3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FF1D9F4-842A-4E00-9C06-B0B66F46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10717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8FE5A6-F449-40B5-A67D-4C19F5F6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BC4D7-B422-4154-A667-EAE367D6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최종 결론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5C05E-319F-43E4-B840-5D14EEAB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데모 가능한 장비 HMI와 원격 모니터링 체계를 구현했고, 실장비 검증 단계로 확장 가능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0D47DE-1627-43EE-BE7D-A2FC8CD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8E728-DE81-4BD2-9655-8384B420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D35614-3351-4359-94EF-7FD1D9ED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9677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이번 프로젝트의 핵심 성과는 장비 제어 화면, 서버 관찰 화면, AI 조언 레이어를 분리해 발표와 검증이 가능한 형태로 연결한 것입니다.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A3C90-D73E-4C0C-8753-D39EE677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CF28C-D046-417F-9565-673D1F54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5AFE90-FA7B-4E52-9AA0-B8880845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2781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운영자 화면 완성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692BD-EC02-44F6-9A84-07EFC05E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WPF에서 장비 도식, 인터락, 램프, 운전 버튼, 관리자 기능을 통합해 실제 HMI 형태를 구성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08AE9-EA87-4973-A74A-E9BBD611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9ACFB2-92C4-4687-BEF5-FAA7AA50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2714B3-82FA-408F-8293-AD5D447A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238500"/>
            <a:ext cx="2781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원격 관찰성 확보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FFB010-CE8D-4CA5-9CA0-2227E75C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6235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Flask 대시보드에서 센서, 이력, 이벤트, 모듈, 레시피, AI 상태를 조회 전용으로 분리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C05EFA-8B7C-4D2E-BA3E-6A92448A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2895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175BA3-3145-41C1-8B27-9361E57B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28950"/>
            <a:ext cx="666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AC5782-81EF-44AB-909D-6CDCAAEE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38500"/>
            <a:ext cx="2781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확장 기반 마련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D2E2E8-DAE2-4CBD-9703-BFC352D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56235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sklearn 모델과 규칙 fallback 구조를 준비해 실데이터 축적 후 재학습으로 확장 가능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02566830564647"/>
          <a:srcRect xmlns:a="http://schemas.openxmlformats.org/drawingml/2006/main" l="0" t="13797" r="0" b="137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" y="4781550"/>
            <a:ext cx="3105150" cy="11049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b2023d01e4cc6"/>
          <a:srcRect xmlns:a="http://schemas.openxmlformats.org/drawingml/2006/main" l="0" t="21534" r="0" b="215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950" y="4781550"/>
            <a:ext cx="3105150" cy="11049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388664022450d"/>
          <a:srcRect xmlns:a="http://schemas.openxmlformats.org/drawingml/2006/main" l="0" t="21534" r="0" b="215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4781550"/>
            <a:ext cx="3105150" cy="11049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8FBCA6-E713-45EB-BB2B-554ADADB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115050"/>
            <a:ext cx="990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E293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293B"/>
                </a:solidFill>
                <a:latin typeface="Aptos"/>
                <a:ea typeface="Aptos"/>
                <a:cs typeface="Aptos"/>
              </a:rPr>
              <a:t>향후 보완: EtherCAT 현장 연결 검증, 실제 장비 데이터 기반 AI 재학습, 발표용 자동 시나리오 안정화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E1CAA8-1C6C-4110-BD9E-3C2BBCD7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Etch Load Lock HMI 결과 보고서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8618DE-19C2-4E96-B9BB-E1C52FAD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78688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2026-06-15T04:12:40.7640000Z</dcterms:created>
  <dcterms:modified xsi:type="dcterms:W3CDTF">2026-06-15T04:12:40.7640000Z</dcterms:modified>
</coreProperties>
</file>